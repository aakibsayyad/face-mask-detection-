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70" r:id="rId17"/>
    <p:sldId id="271" r:id="rId18"/>
    <p:sldId id="272" r:id="rId19"/>
    <p:sldId id="268" r:id="rId20"/>
  </p:sldIdLst>
  <p:sldSz cx="9144000" cy="6858000"/>
  <p:notesSz cx="6858000" cy="9144000"/>
  <p:embeddedFontLst>
    <p:embeddedFont>
      <p:font typeface="Libre Baskerville" panose="02000000000000000000"/>
      <p:regular r:id="rId24"/>
      <p:bold r:id="rId25"/>
      <p:italic r:id="rId26"/>
    </p:embeddedFont>
    <p:embeddedFont>
      <p:font typeface="Libre Franklin"/>
      <p:regular r:id="rId27"/>
    </p:embeddedFont>
    <p:embeddedFont>
      <p:font typeface="Calibri" panose="020F0502020204030204"/>
      <p:regular r:id="rId28"/>
    </p:embeddedFont>
    <p:embeddedFont>
      <p:font typeface="Roboto" panose="0200000000000000000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347AE4D-674B-4E3A-BB37-BCA7E2694DCC}"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Master" Target="slideMasters/slideMaster2.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2" name="Google Shape;42;p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43" name="Google Shape;43;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48"/>
        <p:cNvGrpSpPr/>
        <p:nvPr/>
      </p:nvGrpSpPr>
      <p:grpSpPr>
        <a:xfrm>
          <a:off x="0" y="0"/>
          <a:ext cx="0" cy="0"/>
          <a:chOff x="0" y="0"/>
          <a:chExt cx="0" cy="0"/>
        </a:xfrm>
      </p:grpSpPr>
      <p:sp>
        <p:nvSpPr>
          <p:cNvPr id="49" name="Google Shape;49;p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0" name="Google Shape;50;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54"/>
        <p:cNvGrpSpPr/>
        <p:nvPr/>
      </p:nvGrpSpPr>
      <p:grpSpPr>
        <a:xfrm>
          <a:off x="0" y="0"/>
          <a:ext cx="0" cy="0"/>
          <a:chOff x="0" y="0"/>
          <a:chExt cx="0" cy="0"/>
        </a:xfrm>
      </p:grpSpPr>
      <p:sp>
        <p:nvSpPr>
          <p:cNvPr id="55" name="Google Shape;55;p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6" name="Google Shape;56;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2" name="Google Shape;62;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p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8" name="Google Shape;68;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p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4" name="Google Shape;74;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9" name="Google Shape;79;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4" name="Google Shape;84;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p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9" name="Google Shape;89;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11832f7a9af_0_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g11832f7a9af_0_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6" name="Google Shape;96;g11832f7a9af_0_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IN"/>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1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2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9" name="Google Shape;139;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8" name="Shape 1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9" name="Shape 19"/>
        <p:cNvGrpSpPr/>
        <p:nvPr/>
      </p:nvGrpSpPr>
      <p:grpSpPr>
        <a:xfrm>
          <a:off x="0" y="0"/>
          <a:ext cx="0" cy="0"/>
          <a:chOff x="0" y="0"/>
          <a:chExt cx="0" cy="0"/>
        </a:xfrm>
      </p:grpSpPr>
      <p:sp>
        <p:nvSpPr>
          <p:cNvPr id="20" name="Google Shape;20;p26"/>
          <p:cNvSpPr txBox="1"/>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68935" algn="l">
              <a:lnSpc>
                <a:spcPct val="100000"/>
              </a:lnSpc>
              <a:spcBef>
                <a:spcPts val="575"/>
              </a:spcBef>
              <a:spcAft>
                <a:spcPts val="0"/>
              </a:spcAft>
              <a:buSzPts val="2210"/>
              <a:buChar char="⚫"/>
              <a:defRPr/>
            </a:lvl1pPr>
            <a:lvl2pPr marL="914400" lvl="1" indent="-358140" algn="l">
              <a:lnSpc>
                <a:spcPct val="100000"/>
              </a:lnSpc>
              <a:spcBef>
                <a:spcPts val="375"/>
              </a:spcBef>
              <a:spcAft>
                <a:spcPts val="0"/>
              </a:spcAft>
              <a:buSzPts val="2040"/>
              <a:buChar char="⚫"/>
              <a:defRPr/>
            </a:lvl2pPr>
            <a:lvl3pPr marL="1371600" lvl="2" indent="-336550" algn="l">
              <a:lnSpc>
                <a:spcPct val="100000"/>
              </a:lnSpc>
              <a:spcBef>
                <a:spcPts val="375"/>
              </a:spcBef>
              <a:spcAft>
                <a:spcPts val="0"/>
              </a:spcAft>
              <a:buSzPts val="1700"/>
              <a:buChar char="⚫"/>
              <a:defRPr/>
            </a:lvl3pPr>
            <a:lvl4pPr marL="1828800" lvl="3" indent="-330200" algn="l">
              <a:lnSpc>
                <a:spcPct val="100000"/>
              </a:lnSpc>
              <a:spcBef>
                <a:spcPts val="375"/>
              </a:spcBef>
              <a:spcAft>
                <a:spcPts val="0"/>
              </a:spcAft>
              <a:buSzPts val="1600"/>
              <a:buChar char="⚫"/>
              <a:defRPr/>
            </a:lvl4pPr>
            <a:lvl5pPr marL="2286000" lvl="4" indent="-355600" algn="l">
              <a:lnSpc>
                <a:spcPct val="100000"/>
              </a:lnSpc>
              <a:spcBef>
                <a:spcPts val="375"/>
              </a:spcBef>
              <a:spcAft>
                <a:spcPts val="0"/>
              </a:spcAft>
              <a:buSzPts val="20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p:txBody>
      </p:sp>
      <p:sp>
        <p:nvSpPr>
          <p:cNvPr id="22" name="Google Shape;22;p26"/>
          <p:cNvSpPr txBox="1"/>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3" name="Google Shape;23;p26"/>
          <p:cNvSpPr txBox="1"/>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24" name="Google Shape;24;p2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4" name="Shape 34"/>
        <p:cNvGrpSpPr/>
        <p:nvPr/>
      </p:nvGrpSpPr>
      <p:grpSpPr>
        <a:xfrm>
          <a:off x="0" y="0"/>
          <a:ext cx="0" cy="0"/>
          <a:chOff x="0" y="0"/>
          <a:chExt cx="0" cy="0"/>
        </a:xfrm>
      </p:grpSpPr>
      <p:sp>
        <p:nvSpPr>
          <p:cNvPr id="35" name="Google Shape;35;p25"/>
          <p:cNvSpPr txBox="1"/>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p:txBody>
      </p:sp>
      <p:sp>
        <p:nvSpPr>
          <p:cNvPr id="37" name="Google Shape;37;p25"/>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400"/>
              <a:buFont typeface="Arial" panose="020B0604020202020204"/>
              <a:buNone/>
              <a:defRPr sz="1400">
                <a:solidFill>
                  <a:schemeClr val="dk2"/>
                </a:solidFill>
              </a:defRPr>
            </a:lvl1pPr>
            <a:lvl2pPr lvl="1" algn="l">
              <a:lnSpc>
                <a:spcPct val="100000"/>
              </a:lnSpc>
              <a:spcBef>
                <a:spcPts val="0"/>
              </a:spcBef>
              <a:spcAft>
                <a:spcPts val="0"/>
              </a:spcAft>
              <a:buClr>
                <a:schemeClr val="dk1"/>
              </a:buClr>
              <a:buSzPts val="1400"/>
              <a:buFont typeface="Arial" panose="020B0604020202020204"/>
              <a:buNone/>
              <a:defRPr/>
            </a:lvl2pPr>
            <a:lvl3pPr lvl="2" algn="l">
              <a:lnSpc>
                <a:spcPct val="100000"/>
              </a:lnSpc>
              <a:spcBef>
                <a:spcPts val="0"/>
              </a:spcBef>
              <a:spcAft>
                <a:spcPts val="0"/>
              </a:spcAft>
              <a:buClr>
                <a:schemeClr val="dk1"/>
              </a:buClr>
              <a:buSzPts val="1400"/>
              <a:buFont typeface="Arial" panose="020B0604020202020204"/>
              <a:buNone/>
              <a:defRPr/>
            </a:lvl3pPr>
            <a:lvl4pPr lvl="3" algn="l">
              <a:lnSpc>
                <a:spcPct val="100000"/>
              </a:lnSpc>
              <a:spcBef>
                <a:spcPts val="0"/>
              </a:spcBef>
              <a:spcAft>
                <a:spcPts val="0"/>
              </a:spcAft>
              <a:buClr>
                <a:schemeClr val="dk1"/>
              </a:buClr>
              <a:buSzPts val="1400"/>
              <a:buFont typeface="Arial" panose="020B0604020202020204"/>
              <a:buNone/>
              <a:defRPr/>
            </a:lvl4pPr>
            <a:lvl5pPr lvl="4" algn="l">
              <a:lnSpc>
                <a:spcPct val="100000"/>
              </a:lnSpc>
              <a:spcBef>
                <a:spcPts val="0"/>
              </a:spcBef>
              <a:spcAft>
                <a:spcPts val="0"/>
              </a:spcAft>
              <a:buClr>
                <a:schemeClr val="dk1"/>
              </a:buClr>
              <a:buSzPts val="1400"/>
              <a:buFont typeface="Arial" panose="020B0604020202020204"/>
              <a:buNone/>
              <a:defRPr/>
            </a:lvl5pPr>
            <a:lvl6pPr lvl="5" algn="l">
              <a:lnSpc>
                <a:spcPct val="100000"/>
              </a:lnSpc>
              <a:spcBef>
                <a:spcPts val="0"/>
              </a:spcBef>
              <a:spcAft>
                <a:spcPts val="0"/>
              </a:spcAft>
              <a:buClr>
                <a:schemeClr val="dk1"/>
              </a:buClr>
              <a:buSzPts val="1400"/>
              <a:buFont typeface="Arial" panose="020B0604020202020204"/>
              <a:buNone/>
              <a:defRPr/>
            </a:lvl6pPr>
            <a:lvl7pPr lvl="6" algn="l">
              <a:lnSpc>
                <a:spcPct val="100000"/>
              </a:lnSpc>
              <a:spcBef>
                <a:spcPts val="0"/>
              </a:spcBef>
              <a:spcAft>
                <a:spcPts val="0"/>
              </a:spcAft>
              <a:buClr>
                <a:schemeClr val="dk1"/>
              </a:buClr>
              <a:buSzPts val="1400"/>
              <a:buFont typeface="Arial" panose="020B0604020202020204"/>
              <a:buNone/>
              <a:defRPr/>
            </a:lvl7pPr>
            <a:lvl8pPr lvl="7" algn="l">
              <a:lnSpc>
                <a:spcPct val="100000"/>
              </a:lnSpc>
              <a:spcBef>
                <a:spcPts val="0"/>
              </a:spcBef>
              <a:spcAft>
                <a:spcPts val="0"/>
              </a:spcAft>
              <a:buClr>
                <a:schemeClr val="dk1"/>
              </a:buClr>
              <a:buSzPts val="1400"/>
              <a:buFont typeface="Arial" panose="020B0604020202020204"/>
              <a:buNone/>
              <a:defRPr/>
            </a:lvl8pPr>
            <a:lvl9pPr lvl="8" algn="l">
              <a:lnSpc>
                <a:spcPct val="100000"/>
              </a:lnSpc>
              <a:spcBef>
                <a:spcPts val="0"/>
              </a:spcBef>
              <a:spcAft>
                <a:spcPts val="0"/>
              </a:spcAft>
              <a:buClr>
                <a:schemeClr val="dk1"/>
              </a:buClr>
              <a:buSzPts val="1400"/>
              <a:buFont typeface="Arial" panose="020B0604020202020204"/>
              <a:buNone/>
              <a:defRPr/>
            </a:lvl9pPr>
          </a:lstStyle>
          <a:p/>
        </p:txBody>
      </p:sp>
      <p:sp>
        <p:nvSpPr>
          <p:cNvPr id="38" name="Google Shape;38;p25"/>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400"/>
              <a:buFont typeface="Arial" panose="020B0604020202020204"/>
              <a:buNone/>
              <a:defRPr sz="1400">
                <a:solidFill>
                  <a:schemeClr val="dk2"/>
                </a:solidFill>
              </a:defRPr>
            </a:lvl1pPr>
            <a:lvl2pPr lvl="1" algn="l">
              <a:lnSpc>
                <a:spcPct val="100000"/>
              </a:lnSpc>
              <a:spcBef>
                <a:spcPts val="0"/>
              </a:spcBef>
              <a:spcAft>
                <a:spcPts val="0"/>
              </a:spcAft>
              <a:buClr>
                <a:schemeClr val="dk1"/>
              </a:buClr>
              <a:buSzPts val="1400"/>
              <a:buFont typeface="Arial" panose="020B0604020202020204"/>
              <a:buNone/>
              <a:defRPr/>
            </a:lvl2pPr>
            <a:lvl3pPr lvl="2" algn="l">
              <a:lnSpc>
                <a:spcPct val="100000"/>
              </a:lnSpc>
              <a:spcBef>
                <a:spcPts val="0"/>
              </a:spcBef>
              <a:spcAft>
                <a:spcPts val="0"/>
              </a:spcAft>
              <a:buClr>
                <a:schemeClr val="dk1"/>
              </a:buClr>
              <a:buSzPts val="1400"/>
              <a:buFont typeface="Arial" panose="020B0604020202020204"/>
              <a:buNone/>
              <a:defRPr/>
            </a:lvl3pPr>
            <a:lvl4pPr lvl="3" algn="l">
              <a:lnSpc>
                <a:spcPct val="100000"/>
              </a:lnSpc>
              <a:spcBef>
                <a:spcPts val="0"/>
              </a:spcBef>
              <a:spcAft>
                <a:spcPts val="0"/>
              </a:spcAft>
              <a:buClr>
                <a:schemeClr val="dk1"/>
              </a:buClr>
              <a:buSzPts val="1400"/>
              <a:buFont typeface="Arial" panose="020B0604020202020204"/>
              <a:buNone/>
              <a:defRPr/>
            </a:lvl4pPr>
            <a:lvl5pPr lvl="4" algn="l">
              <a:lnSpc>
                <a:spcPct val="100000"/>
              </a:lnSpc>
              <a:spcBef>
                <a:spcPts val="0"/>
              </a:spcBef>
              <a:spcAft>
                <a:spcPts val="0"/>
              </a:spcAft>
              <a:buClr>
                <a:schemeClr val="dk1"/>
              </a:buClr>
              <a:buSzPts val="1400"/>
              <a:buFont typeface="Arial" panose="020B0604020202020204"/>
              <a:buNone/>
              <a:defRPr/>
            </a:lvl5pPr>
            <a:lvl6pPr lvl="5" algn="l">
              <a:lnSpc>
                <a:spcPct val="100000"/>
              </a:lnSpc>
              <a:spcBef>
                <a:spcPts val="0"/>
              </a:spcBef>
              <a:spcAft>
                <a:spcPts val="0"/>
              </a:spcAft>
              <a:buClr>
                <a:schemeClr val="dk1"/>
              </a:buClr>
              <a:buSzPts val="1400"/>
              <a:buFont typeface="Arial" panose="020B0604020202020204"/>
              <a:buNone/>
              <a:defRPr/>
            </a:lvl6pPr>
            <a:lvl7pPr lvl="6" algn="l">
              <a:lnSpc>
                <a:spcPct val="100000"/>
              </a:lnSpc>
              <a:spcBef>
                <a:spcPts val="0"/>
              </a:spcBef>
              <a:spcAft>
                <a:spcPts val="0"/>
              </a:spcAft>
              <a:buClr>
                <a:schemeClr val="dk1"/>
              </a:buClr>
              <a:buSzPts val="1400"/>
              <a:buFont typeface="Arial" panose="020B0604020202020204"/>
              <a:buNone/>
              <a:defRPr/>
            </a:lvl7pPr>
            <a:lvl8pPr lvl="7" algn="l">
              <a:lnSpc>
                <a:spcPct val="100000"/>
              </a:lnSpc>
              <a:spcBef>
                <a:spcPts val="0"/>
              </a:spcBef>
              <a:spcAft>
                <a:spcPts val="0"/>
              </a:spcAft>
              <a:buClr>
                <a:schemeClr val="dk1"/>
              </a:buClr>
              <a:buSzPts val="1400"/>
              <a:buFont typeface="Arial" panose="020B0604020202020204"/>
              <a:buNone/>
              <a:defRPr/>
            </a:lvl8pPr>
            <a:lvl9pPr lvl="8" algn="l">
              <a:lnSpc>
                <a:spcPct val="100000"/>
              </a:lnSpc>
              <a:spcBef>
                <a:spcPts val="0"/>
              </a:spcBef>
              <a:spcAft>
                <a:spcPts val="0"/>
              </a:spcAft>
              <a:buClr>
                <a:schemeClr val="dk1"/>
              </a:buClr>
              <a:buSzPts val="1400"/>
              <a:buFont typeface="Arial" panose="020B0604020202020204"/>
              <a:buNone/>
              <a:defRPr/>
            </a:lvl9pPr>
          </a:lstStyle>
          <a:p/>
        </p:txBody>
      </p:sp>
      <p:sp>
        <p:nvSpPr>
          <p:cNvPr id="39" name="Google Shape;39;p25"/>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22"/>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 name="Google Shape;11;p22"/>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 name="Google Shape;12;p22"/>
          <p:cNvSpPr txBox="1"/>
          <p:nvPr/>
        </p:nvSpPr>
        <p:spPr>
          <a:xfrm>
            <a:off x="0" y="1"/>
            <a:ext cx="9171432" cy="646331"/>
          </a:xfrm>
          <a:prstGeom prst="rect">
            <a:avLst/>
          </a:prstGeom>
          <a:solidFill>
            <a:srgbClr val="8CB3E3"/>
          </a:solidFill>
          <a:ln w="9525" cap="flat" cmpd="sng">
            <a:solidFill>
              <a:srgbClr val="3F3F3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DE9D8"/>
              </a:buClr>
              <a:buSzPts val="3200"/>
              <a:buFont typeface="Times New Roman" panose="02020603050405020304"/>
              <a:buNone/>
            </a:pPr>
            <a:r>
              <a:rPr lang="en-IN" sz="3200" b="1" i="0" u="none" strike="noStrike" cap="none">
                <a:solidFill>
                  <a:srgbClr val="FDE9D8"/>
                </a:solidFill>
                <a:latin typeface="Times New Roman" panose="02020603050405020304"/>
                <a:ea typeface="Times New Roman" panose="02020603050405020304"/>
                <a:cs typeface="Times New Roman" panose="02020603050405020304"/>
                <a:sym typeface="Times New Roman" panose="02020603050405020304"/>
              </a:rPr>
              <a:t>   </a:t>
            </a:r>
            <a:endParaRPr sz="500" b="1" i="0" u="none" strike="noStrike" cap="none">
              <a:solidFill>
                <a:srgbClr val="FDE9D8"/>
              </a:solidFill>
              <a:latin typeface="Libre Baskerville" panose="02000000000000000000"/>
              <a:ea typeface="Libre Baskerville" panose="02000000000000000000"/>
              <a:cs typeface="Libre Baskerville" panose="02000000000000000000"/>
              <a:sym typeface="Libre Baskerville" panose="02000000000000000000"/>
            </a:endParaRPr>
          </a:p>
          <a:p>
            <a:pPr marL="0" marR="0" lvl="0" indent="0" algn="l" rtl="0">
              <a:lnSpc>
                <a:spcPct val="100000"/>
              </a:lnSpc>
              <a:spcBef>
                <a:spcPts val="0"/>
              </a:spcBef>
              <a:spcAft>
                <a:spcPts val="0"/>
              </a:spcAft>
              <a:buClr>
                <a:schemeClr val="dk1"/>
              </a:buClr>
              <a:buSzPts val="400"/>
              <a:buFont typeface="Arial" panose="020B0604020202020204"/>
              <a:buNone/>
            </a:pPr>
            <a:endParaRPr sz="400" b="1" i="0" u="none" strike="noStrike" cap="none">
              <a:solidFill>
                <a:srgbClr val="FFC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2"/>
          <p:cNvSpPr txBox="1"/>
          <p:nvPr/>
        </p:nvSpPr>
        <p:spPr>
          <a:xfrm>
            <a:off x="0" y="0"/>
            <a:ext cx="9171432" cy="1169551"/>
          </a:xfrm>
          <a:prstGeom prst="rect">
            <a:avLst/>
          </a:prstGeom>
          <a:solidFill>
            <a:srgbClr val="244061"/>
          </a:solidFill>
          <a:ln w="9525" cap="flat" cmpd="sng">
            <a:solidFill>
              <a:schemeClr val="dk2"/>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DD9C3"/>
              </a:buClr>
              <a:buSzPts val="3200"/>
              <a:buFont typeface="Times New Roman" panose="02020603050405020304"/>
              <a:buNone/>
            </a:pPr>
            <a:r>
              <a:rPr lang="en-IN" sz="3200" b="1" i="0" u="none" strike="noStrike" cap="none">
                <a:solidFill>
                  <a:srgbClr val="DDD9C3"/>
                </a:solidFill>
                <a:latin typeface="Times New Roman" panose="02020603050405020304"/>
                <a:ea typeface="Times New Roman" panose="02020603050405020304"/>
                <a:cs typeface="Times New Roman" panose="02020603050405020304"/>
                <a:sym typeface="Times New Roman" panose="02020603050405020304"/>
              </a:rPr>
              <a:t>           </a:t>
            </a:r>
            <a:r>
              <a:rPr lang="en-IN" sz="32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Yeshwantrao Chavan College of Engineering</a:t>
            </a:r>
            <a:r>
              <a:rPr lang="en-IN" sz="500" b="1" i="0" u="none" strike="noStrike" cap="none">
                <a:solidFill>
                  <a:srgbClr val="FFFF00"/>
                </a:solidFill>
                <a:latin typeface="Libre Baskerville" panose="02000000000000000000"/>
                <a:ea typeface="Libre Baskerville" panose="02000000000000000000"/>
                <a:cs typeface="Libre Baskerville" panose="02000000000000000000"/>
                <a:sym typeface="Libre Baskerville" panose="02000000000000000000"/>
              </a:rPr>
              <a: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600"/>
              </a:spcBef>
              <a:spcAft>
                <a:spcPts val="0"/>
              </a:spcAft>
              <a:buClr>
                <a:srgbClr val="FFC000"/>
              </a:buClr>
              <a:buSzPts val="2400"/>
              <a:buFont typeface="Times New Roman" panose="02020603050405020304"/>
              <a:buNone/>
            </a:pPr>
            <a:r>
              <a:rPr lang="en-IN" sz="2400" b="1" i="0" u="none" strike="noStrike" cap="none">
                <a:solidFill>
                  <a:srgbClr val="FFC000"/>
                </a:solidFill>
                <a:latin typeface="Times New Roman" panose="02020603050405020304"/>
                <a:ea typeface="Times New Roman" panose="02020603050405020304"/>
                <a:cs typeface="Times New Roman" panose="02020603050405020304"/>
                <a:sym typeface="Times New Roman" panose="02020603050405020304"/>
              </a:rPr>
              <a:t>                 </a:t>
            </a:r>
            <a:r>
              <a:rPr lang="en-IN" sz="2200" b="1" i="0" u="none" strike="noStrike" cap="none">
                <a:solidFill>
                  <a:srgbClr val="FFFF00"/>
                </a:solidFill>
                <a:latin typeface="Times New Roman" panose="02020603050405020304"/>
                <a:ea typeface="Times New Roman" panose="02020603050405020304"/>
                <a:cs typeface="Times New Roman" panose="02020603050405020304"/>
                <a:sym typeface="Times New Roman" panose="02020603050405020304"/>
              </a:rPr>
              <a:t>Department of Electronics &amp; Telecommunication Engineering</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600"/>
              </a:spcBef>
              <a:spcAft>
                <a:spcPts val="0"/>
              </a:spcAft>
              <a:buClr>
                <a:schemeClr val="dk1"/>
              </a:buClr>
              <a:buSzPts val="400"/>
              <a:buFont typeface="Arial" panose="020B0604020202020204"/>
              <a:buNone/>
            </a:pPr>
            <a:endParaRPr sz="400" b="1" i="0" u="none" strike="noStrike" cap="none">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4" name="Google Shape;14;p22" descr="ycce_logo_col.png"/>
          <p:cNvPicPr preferRelativeResize="0"/>
          <p:nvPr/>
        </p:nvPicPr>
        <p:blipFill rotWithShape="1">
          <a:blip r:embed="rId3"/>
          <a:srcRect/>
          <a:stretch>
            <a:fillRect/>
          </a:stretch>
        </p:blipFill>
        <p:spPr>
          <a:xfrm>
            <a:off x="152400" y="136525"/>
            <a:ext cx="917575" cy="930275"/>
          </a:xfrm>
          <a:prstGeom prst="rect">
            <a:avLst/>
          </a:prstGeom>
          <a:noFill/>
          <a:ln>
            <a:noFill/>
          </a:ln>
        </p:spPr>
      </p:pic>
      <p:sp>
        <p:nvSpPr>
          <p:cNvPr id="15" name="Google Shape;15;p22"/>
          <p:cNvSpPr/>
          <p:nvPr/>
        </p:nvSpPr>
        <p:spPr>
          <a:xfrm>
            <a:off x="76200" y="1219200"/>
            <a:ext cx="9025128" cy="5568696"/>
          </a:xfrm>
          <a:prstGeom prst="rect">
            <a:avLst/>
          </a:prstGeom>
          <a:noFill/>
          <a:ln w="1270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chemeClr val="lt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6" name="Google Shape;16;p22"/>
          <p:cNvSpPr txBox="1"/>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9pPr>
          </a:lstStyle>
          <a:p/>
        </p:txBody>
      </p:sp>
      <p:sp>
        <p:nvSpPr>
          <p:cNvPr id="17" name="Google Shape;17;p22"/>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lnSpc>
                <a:spcPct val="100000"/>
              </a:lnSpc>
              <a:spcBef>
                <a:spcPts val="375"/>
              </a:spcBef>
              <a:spcAft>
                <a:spcPts val="0"/>
              </a:spcAft>
              <a:buClr>
                <a:srgbClr val="B2C1DB"/>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lnSpc>
                <a:spcPct val="100000"/>
              </a:lnSpc>
              <a:spcBef>
                <a:spcPts val="375"/>
              </a:spcBef>
              <a:spcAft>
                <a:spcPts val="0"/>
              </a:spcAft>
              <a:buClr>
                <a:srgbClr val="9BBB59"/>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lnSpc>
                <a:spcPct val="100000"/>
              </a:lnSpc>
              <a:spcBef>
                <a:spcPts val="375"/>
              </a:spcBef>
              <a:spcAft>
                <a:spcPts val="0"/>
              </a:spcAft>
              <a:buClr>
                <a:srgbClr val="9BBB59"/>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lnSpc>
                <a:spcPct val="100000"/>
              </a:lnSpc>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lnSpc>
                <a:spcPct val="100000"/>
              </a:lnSpc>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lnSpc>
                <a:spcPct val="100000"/>
              </a:lnSpc>
              <a:spcBef>
                <a:spcPts val="370"/>
              </a:spcBef>
              <a:spcAft>
                <a:spcPts val="0"/>
              </a:spcAft>
              <a:buClr>
                <a:srgbClr val="B1C0DA"/>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lnSpc>
                <a:spcPct val="100000"/>
              </a:lnSpc>
              <a:spcBef>
                <a:spcPts val="370"/>
              </a:spcBef>
              <a:spcAft>
                <a:spcPts val="0"/>
              </a:spcAft>
              <a:buClr>
                <a:srgbClr val="DCB1B0"/>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5" name="Shape 25"/>
        <p:cNvGrpSpPr/>
        <p:nvPr/>
      </p:nvGrpSpPr>
      <p:grpSpPr>
        <a:xfrm>
          <a:off x="0" y="0"/>
          <a:ext cx="0" cy="0"/>
          <a:chOff x="0" y="0"/>
          <a:chExt cx="0" cy="0"/>
        </a:xfrm>
      </p:grpSpPr>
      <p:sp>
        <p:nvSpPr>
          <p:cNvPr id="26" name="Google Shape;26;p24"/>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7" name="Google Shape;27;p24"/>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24"/>
          <p:cNvSpPr txBox="1"/>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panose="020B0604020202020204"/>
              <a:buNone/>
              <a:defRPr sz="4000" b="0" i="0" u="none" strike="noStrike" cap="none">
                <a:solidFill>
                  <a:schemeClr val="dk2"/>
                </a:solidFill>
                <a:latin typeface="Libre Franklin"/>
                <a:ea typeface="Libre Franklin"/>
                <a:cs typeface="Libre Franklin"/>
                <a:sym typeface="Libre Franklin"/>
              </a:defRPr>
            </a:lvl9pPr>
          </a:lstStyle>
          <a:p/>
        </p:txBody>
      </p:sp>
      <p:sp>
        <p:nvSpPr>
          <p:cNvPr id="29" name="Google Shape;29;p24"/>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lnSpc>
                <a:spcPct val="100000"/>
              </a:lnSpc>
              <a:spcBef>
                <a:spcPts val="375"/>
              </a:spcBef>
              <a:spcAft>
                <a:spcPts val="0"/>
              </a:spcAft>
              <a:buClr>
                <a:srgbClr val="B2C1DB"/>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lnSpc>
                <a:spcPct val="100000"/>
              </a:lnSpc>
              <a:spcBef>
                <a:spcPts val="375"/>
              </a:spcBef>
              <a:spcAft>
                <a:spcPts val="0"/>
              </a:spcAft>
              <a:buClr>
                <a:srgbClr val="9BBB59"/>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lnSpc>
                <a:spcPct val="100000"/>
              </a:lnSpc>
              <a:spcBef>
                <a:spcPts val="375"/>
              </a:spcBef>
              <a:spcAft>
                <a:spcPts val="0"/>
              </a:spcAft>
              <a:buClr>
                <a:srgbClr val="9BBB59"/>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lnSpc>
                <a:spcPct val="100000"/>
              </a:lnSpc>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lnSpc>
                <a:spcPct val="100000"/>
              </a:lnSpc>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lnSpc>
                <a:spcPct val="100000"/>
              </a:lnSpc>
              <a:spcBef>
                <a:spcPts val="370"/>
              </a:spcBef>
              <a:spcAft>
                <a:spcPts val="0"/>
              </a:spcAft>
              <a:buClr>
                <a:srgbClr val="B1C0DA"/>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lnSpc>
                <a:spcPct val="100000"/>
              </a:lnSpc>
              <a:spcBef>
                <a:spcPts val="370"/>
              </a:spcBef>
              <a:spcAft>
                <a:spcPts val="0"/>
              </a:spcAft>
              <a:buClr>
                <a:srgbClr val="DCB1B0"/>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p:txBody>
      </p:sp>
      <p:sp>
        <p:nvSpPr>
          <p:cNvPr id="30" name="Google Shape;30;p24"/>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chemeClr val="dk2"/>
              </a:buClr>
              <a:buSzPts val="1400"/>
              <a:buFont typeface="Arial" panose="020B0604020202020204"/>
              <a:buNone/>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1" name="Google Shape;31;p24"/>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1400"/>
              <a:buFont typeface="Arial" panose="020B0604020202020204"/>
              <a:buNone/>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2" name="Google Shape;32;p24"/>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IN"/>
            </a:fld>
            <a:endParaRPr>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24"/>
          <p:cNvSpPr txBox="1"/>
          <p:nvPr/>
        </p:nvSpPr>
        <p:spPr>
          <a:xfrm>
            <a:off x="0" y="1"/>
            <a:ext cx="9171432" cy="646331"/>
          </a:xfrm>
          <a:prstGeom prst="rect">
            <a:avLst/>
          </a:prstGeom>
          <a:solidFill>
            <a:srgbClr val="8CB3E3"/>
          </a:solidFill>
          <a:ln w="9525" cap="flat" cmpd="sng">
            <a:solidFill>
              <a:srgbClr val="3F3F3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DE9D8"/>
              </a:buClr>
              <a:buSzPts val="3200"/>
              <a:buFont typeface="Times New Roman" panose="02020603050405020304"/>
              <a:buNone/>
            </a:pPr>
            <a:r>
              <a:rPr lang="en-IN" sz="3200" b="1" i="0" u="none" strike="noStrike" cap="none">
                <a:solidFill>
                  <a:srgbClr val="FDE9D8"/>
                </a:solidFill>
                <a:latin typeface="Times New Roman" panose="02020603050405020304"/>
                <a:ea typeface="Times New Roman" panose="02020603050405020304"/>
                <a:cs typeface="Times New Roman" panose="02020603050405020304"/>
                <a:sym typeface="Times New Roman" panose="02020603050405020304"/>
              </a:rPr>
              <a:t>   </a:t>
            </a:r>
            <a:endParaRPr sz="500" b="1" i="0" u="none" strike="noStrike" cap="none">
              <a:solidFill>
                <a:srgbClr val="FDE9D8"/>
              </a:solidFill>
              <a:latin typeface="Libre Baskerville" panose="02000000000000000000"/>
              <a:ea typeface="Libre Baskerville" panose="02000000000000000000"/>
              <a:cs typeface="Libre Baskerville" panose="02000000000000000000"/>
              <a:sym typeface="Libre Baskerville" panose="02000000000000000000"/>
            </a:endParaRPr>
          </a:p>
          <a:p>
            <a:pPr marL="0" marR="0" lvl="0" indent="0" algn="l" rtl="0">
              <a:lnSpc>
                <a:spcPct val="100000"/>
              </a:lnSpc>
              <a:spcBef>
                <a:spcPts val="0"/>
              </a:spcBef>
              <a:spcAft>
                <a:spcPts val="0"/>
              </a:spcAft>
              <a:buClr>
                <a:schemeClr val="dk1"/>
              </a:buClr>
              <a:buSzPts val="400"/>
              <a:buFont typeface="Arial" panose="020B0604020202020204"/>
              <a:buNone/>
            </a:pPr>
            <a:endParaRPr sz="400" b="1" i="0" u="none" strike="noStrike" cap="none">
              <a:solidFill>
                <a:srgbClr val="FFC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1"/>
          <p:cNvSpPr txBox="1"/>
          <p:nvPr/>
        </p:nvSpPr>
        <p:spPr>
          <a:xfrm>
            <a:off x="0" y="1357298"/>
            <a:ext cx="9144000" cy="199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2800"/>
              <a:buFont typeface="Arial" panose="020B0604020202020204"/>
              <a:buNone/>
            </a:pPr>
            <a:endParaRPr sz="28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2060"/>
              </a:buClr>
              <a:buSzPts val="2800"/>
              <a:buFont typeface="Arial" panose="020B0604020202020204"/>
              <a:buNone/>
            </a:pPr>
            <a:r>
              <a:rPr lang="en-IN" sz="2800" b="1" i="0" u="none" strike="noStrike" cap="none">
                <a:solidFill>
                  <a:srgbClr val="002060"/>
                </a:solidFill>
                <a:latin typeface="Arial" panose="020B0604020202020204"/>
                <a:ea typeface="Arial" panose="020B0604020202020204"/>
                <a:cs typeface="Arial" panose="020B0604020202020204"/>
                <a:sym typeface="Arial" panose="020B0604020202020204"/>
              </a:rPr>
              <a:t>Project Title</a:t>
            </a:r>
            <a:endParaRPr sz="28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342900" marR="0" lvl="0" indent="0" algn="ctr" rtl="0">
              <a:lnSpc>
                <a:spcPct val="115000"/>
              </a:lnSpc>
              <a:spcBef>
                <a:spcPts val="900"/>
              </a:spcBef>
              <a:spcAft>
                <a:spcPts val="0"/>
              </a:spcAft>
              <a:buClr>
                <a:srgbClr val="000000"/>
              </a:buClr>
              <a:buSzPts val="2800"/>
              <a:buFont typeface="Arial" panose="020B0604020202020204"/>
              <a:buNone/>
            </a:pPr>
            <a:r>
              <a:rPr lang="en-IN" sz="2800" b="0" i="0" u="none" strike="noStrike" cap="none">
                <a:solidFill>
                  <a:srgbClr val="95B3D7"/>
                </a:solidFill>
                <a:latin typeface="Arial" panose="020B0604020202020204"/>
                <a:ea typeface="Arial" panose="020B0604020202020204"/>
                <a:cs typeface="Arial" panose="020B0604020202020204"/>
                <a:sym typeface="Arial" panose="020B0604020202020204"/>
              </a:rPr>
              <a:t>Face Mask Detection</a:t>
            </a:r>
            <a:endParaRPr sz="2800" b="0" i="0" u="none" strike="noStrike" cap="none">
              <a:solidFill>
                <a:srgbClr val="95B3D7"/>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2060"/>
              </a:buClr>
              <a:buSzPts val="2800"/>
              <a:buFont typeface="Arial" panose="020B0604020202020204"/>
              <a:buNone/>
            </a:pPr>
            <a:endParaRPr sz="2800" b="1"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46" name="Google Shape;46;p1"/>
          <p:cNvSpPr txBox="1"/>
          <p:nvPr/>
        </p:nvSpPr>
        <p:spPr>
          <a:xfrm>
            <a:off x="2286000" y="3018788"/>
            <a:ext cx="4572000" cy="35680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2400"/>
              <a:buFont typeface="Arial" panose="020B0604020202020204"/>
              <a:buNone/>
            </a:pPr>
            <a:r>
              <a:rPr 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Presented By</a:t>
            </a:r>
            <a:endParaRPr 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0"/>
              </a:spcBef>
              <a:spcAft>
                <a:spcPts val="0"/>
              </a:spcAft>
              <a:buClr>
                <a:srgbClr val="002060"/>
              </a:buClr>
              <a:buSzPts val="2400"/>
              <a:buFont typeface="Arial" panose="020B0604020202020204"/>
              <a:buAutoNum type="arabicPeriod"/>
            </a:pPr>
            <a:r>
              <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Rohit Samarth</a:t>
            </a:r>
            <a:endPar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0"/>
              </a:spcBef>
              <a:spcAft>
                <a:spcPts val="0"/>
              </a:spcAft>
              <a:buClr>
                <a:srgbClr val="002060"/>
              </a:buClr>
              <a:buSzPts val="2400"/>
              <a:buFont typeface="Arial" panose="020B0604020202020204"/>
              <a:buAutoNum type="arabicPeriod"/>
            </a:pPr>
            <a:r>
              <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Aakib Sayyad</a:t>
            </a:r>
            <a:endPar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0"/>
              </a:spcBef>
              <a:spcAft>
                <a:spcPts val="0"/>
              </a:spcAft>
              <a:buClr>
                <a:srgbClr val="002060"/>
              </a:buClr>
              <a:buSzPts val="2400"/>
              <a:buFont typeface="Arial" panose="020B0604020202020204"/>
              <a:buAutoNum type="arabicPeriod"/>
            </a:pPr>
            <a:r>
              <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Ritik Pusdekar</a:t>
            </a:r>
            <a:r>
              <a:rPr 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0"/>
              </a:spcBef>
              <a:spcAft>
                <a:spcPts val="0"/>
              </a:spcAft>
              <a:buClr>
                <a:srgbClr val="002060"/>
              </a:buClr>
              <a:buSzPts val="2400"/>
              <a:buFont typeface="Arial" panose="020B0604020202020204"/>
              <a:buAutoNum type="arabicPeriod"/>
            </a:pPr>
            <a:r>
              <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Mohit Zade</a:t>
            </a:r>
            <a:endPar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l" rtl="0">
              <a:lnSpc>
                <a:spcPct val="100000"/>
              </a:lnSpc>
              <a:spcBef>
                <a:spcPts val="0"/>
              </a:spcBef>
              <a:spcAft>
                <a:spcPts val="0"/>
              </a:spcAft>
              <a:buClr>
                <a:srgbClr val="002060"/>
              </a:buClr>
              <a:buSzPts val="2400"/>
              <a:buFont typeface="Arial" panose="020B0604020202020204"/>
              <a:buAutoNum type="arabicPeriod"/>
            </a:pPr>
            <a:r>
              <a:rPr lang="en-US" altLang="en-IN" sz="2400" b="1">
                <a:solidFill>
                  <a:srgbClr val="002060"/>
                </a:solidFill>
                <a:sym typeface="Arial" panose="020B0604020202020204"/>
              </a:rPr>
              <a:t>Tejas Ubale</a:t>
            </a:r>
            <a:endPar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ctr" rtl="0">
              <a:lnSpc>
                <a:spcPct val="100000"/>
              </a:lnSpc>
              <a:spcBef>
                <a:spcPts val="0"/>
              </a:spcBef>
              <a:spcAft>
                <a:spcPts val="0"/>
              </a:spcAft>
              <a:buClr>
                <a:srgbClr val="002060"/>
              </a:buClr>
              <a:buSzPts val="2400"/>
              <a:buFont typeface="Arial" panose="020B0604020202020204"/>
              <a:buAutoNum type="arabicPeriod"/>
            </a:pPr>
            <a:endParaRPr lang="en-US" altLang="en-IN" sz="2400" b="1"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457200" marR="0" lvl="0" indent="-457200" algn="ctr" rtl="0">
              <a:lnSpc>
                <a:spcPct val="100000"/>
              </a:lnSpc>
              <a:spcBef>
                <a:spcPts val="0"/>
              </a:spcBef>
              <a:spcAft>
                <a:spcPts val="0"/>
              </a:spcAft>
              <a:buClr>
                <a:srgbClr val="002060"/>
              </a:buClr>
              <a:buSzPts val="2400"/>
              <a:buFont typeface="Arial" panose="020B0604020202020204"/>
              <a:buAutoNum type="arabicPeriod"/>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2060"/>
              </a:buClr>
              <a:buSzPts val="2400"/>
              <a:buFont typeface="Arial" panose="020B0604020202020204"/>
              <a:buNone/>
            </a:pPr>
            <a:endParaRPr sz="20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47" name="Google Shape;47;p1"/>
          <p:cNvSpPr txBox="1"/>
          <p:nvPr/>
        </p:nvSpPr>
        <p:spPr>
          <a:xfrm>
            <a:off x="1464285" y="5587294"/>
            <a:ext cx="6215100" cy="1475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2060"/>
              </a:buClr>
              <a:buSzPts val="2400"/>
              <a:buFont typeface="Arial" panose="020B0604020202020204"/>
              <a:buNone/>
            </a:pPr>
            <a:r>
              <a:rPr lang="en-IN" sz="2400" b="1" i="0" u="none" strike="noStrike" cap="none">
                <a:solidFill>
                  <a:srgbClr val="002060"/>
                </a:solidFill>
                <a:latin typeface="Arial" panose="020B0604020202020204"/>
                <a:ea typeface="Arial" panose="020B0604020202020204"/>
                <a:cs typeface="Arial" panose="020B0604020202020204"/>
                <a:sym typeface="Arial" panose="020B0604020202020204"/>
              </a:rPr>
              <a:t>                Under the Guidance of</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2060"/>
              </a:buClr>
              <a:buSzPts val="2400"/>
              <a:buFont typeface="Arial" panose="020B0604020202020204"/>
              <a:buNone/>
            </a:pPr>
            <a:r>
              <a:rPr lang="en-IN" sz="2400" b="0" i="0" u="none" strike="noStrike" cap="none">
                <a:solidFill>
                  <a:srgbClr val="002060"/>
                </a:solidFill>
                <a:latin typeface="Arial" panose="020B0604020202020204"/>
                <a:ea typeface="Arial" panose="020B0604020202020204"/>
                <a:cs typeface="Arial" panose="020B0604020202020204"/>
                <a:sym typeface="Arial" panose="020B0604020202020204"/>
              </a:rPr>
              <a:t>Prof N.A. Pande</a:t>
            </a:r>
            <a:endParaRPr sz="24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2060"/>
              </a:buClr>
              <a:buSzPts val="2400"/>
              <a:buFont typeface="Arial" panose="020B0604020202020204"/>
              <a:buNone/>
            </a:pPr>
            <a:endParaRPr sz="24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2060"/>
              </a:buClr>
              <a:buSzPts val="24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1" name="Shape 51"/>
        <p:cNvGrpSpPr/>
        <p:nvPr/>
      </p:nvGrpSpPr>
      <p:grpSpPr>
        <a:xfrm>
          <a:off x="0" y="0"/>
          <a:ext cx="0" cy="0"/>
          <a:chOff x="0" y="0"/>
          <a:chExt cx="0" cy="0"/>
        </a:xfrm>
      </p:grpSpPr>
      <p:sp>
        <p:nvSpPr>
          <p:cNvPr id="52" name="Google Shape;52;p2"/>
          <p:cNvSpPr txBox="1"/>
          <p:nvPr>
            <p:ph type="title"/>
          </p:nvPr>
        </p:nvSpPr>
        <p:spPr>
          <a:xfrm>
            <a:off x="0" y="0"/>
            <a:ext cx="9144000" cy="642918"/>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SzPct val="39000"/>
              <a:buNone/>
            </a:pPr>
            <a:r>
              <a:rPr lang="en-IN">
                <a:latin typeface="Arial" panose="020B0604020202020204"/>
                <a:ea typeface="Arial" panose="020B0604020202020204"/>
                <a:cs typeface="Arial" panose="020B0604020202020204"/>
                <a:sym typeface="Arial" panose="020B0604020202020204"/>
              </a:rPr>
              <a:t>Content</a:t>
            </a:r>
            <a:endParaRPr>
              <a:latin typeface="Arial" panose="020B0604020202020204"/>
              <a:ea typeface="Arial" panose="020B0604020202020204"/>
              <a:cs typeface="Arial" panose="020B0604020202020204"/>
              <a:sym typeface="Arial" panose="020B0604020202020204"/>
            </a:endParaRPr>
          </a:p>
        </p:txBody>
      </p:sp>
      <p:sp>
        <p:nvSpPr>
          <p:cNvPr id="53" name="Google Shape;53;p2"/>
          <p:cNvSpPr txBox="1"/>
          <p:nvPr>
            <p:ph type="body" idx="1"/>
          </p:nvPr>
        </p:nvSpPr>
        <p:spPr>
          <a:xfrm>
            <a:off x="0" y="642918"/>
            <a:ext cx="9144000" cy="6215082"/>
          </a:xfrm>
          <a:prstGeom prst="rect">
            <a:avLst/>
          </a:prstGeom>
          <a:noFill/>
          <a:ln>
            <a:noFill/>
          </a:ln>
        </p:spPr>
        <p:txBody>
          <a:bodyPr spcFirstLastPara="1" wrap="square" lIns="91425" tIns="45700" rIns="91425" bIns="45700" anchor="t" anchorCtr="0">
            <a:noAutofit/>
          </a:bodyPr>
          <a:lstStyle/>
          <a:p>
            <a:pPr marL="457200" lvl="0" indent="-325755" algn="l" rtl="0">
              <a:lnSpc>
                <a:spcPct val="100000"/>
              </a:lnSpc>
              <a:spcBef>
                <a:spcPts val="575"/>
              </a:spcBef>
              <a:spcAft>
                <a:spcPts val="0"/>
              </a:spcAft>
              <a:buSzPts val="1530"/>
              <a:buChar char="⚫"/>
            </a:pPr>
            <a:r>
              <a:rPr lang="en-IN">
                <a:latin typeface="Arial" panose="020B0604020202020204"/>
                <a:ea typeface="Arial" panose="020B0604020202020204"/>
                <a:cs typeface="Arial" panose="020B0604020202020204"/>
                <a:sym typeface="Arial" panose="020B0604020202020204"/>
              </a:rPr>
              <a:t>Introduction</a:t>
            </a:r>
            <a:endParaRPr lang="en-IN">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Char char="⚫"/>
            </a:pPr>
            <a:r>
              <a:rPr lang="en-IN">
                <a:latin typeface="Arial" panose="020B0604020202020204"/>
                <a:ea typeface="Arial" panose="020B0604020202020204"/>
                <a:cs typeface="Arial" panose="020B0604020202020204"/>
                <a:sym typeface="Arial" panose="020B0604020202020204"/>
              </a:rPr>
              <a:t>Problem Definition</a:t>
            </a:r>
            <a:endParaRPr lang="en-IN">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Font typeface="Arial" panose="020B0604020202020204"/>
              <a:buChar char="⚫"/>
            </a:pPr>
            <a:r>
              <a:rPr lang="en-IN">
                <a:latin typeface="Arial" panose="020B0604020202020204"/>
                <a:ea typeface="Arial" panose="020B0604020202020204"/>
                <a:cs typeface="Arial" panose="020B0604020202020204"/>
                <a:sym typeface="Arial" panose="020B0604020202020204"/>
              </a:rPr>
              <a:t>Literature Review</a:t>
            </a:r>
            <a:endParaRPr>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Font typeface="Arial" panose="020B0604020202020204"/>
              <a:buChar char="⚫"/>
            </a:pPr>
            <a:r>
              <a:rPr lang="en-IN">
                <a:latin typeface="Arial" panose="020B0604020202020204"/>
                <a:ea typeface="Arial" panose="020B0604020202020204"/>
                <a:cs typeface="Arial" panose="020B0604020202020204"/>
                <a:sym typeface="Arial" panose="020B0604020202020204"/>
              </a:rPr>
              <a:t>Tools Required</a:t>
            </a:r>
            <a:endParaRPr>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Font typeface="Arial" panose="020B0604020202020204"/>
              <a:buChar char="⚫"/>
            </a:pPr>
            <a:r>
              <a:rPr lang="en-IN">
                <a:latin typeface="Arial" panose="020B0604020202020204"/>
                <a:ea typeface="Arial" panose="020B0604020202020204"/>
                <a:cs typeface="Arial" panose="020B0604020202020204"/>
                <a:sym typeface="Arial" panose="020B0604020202020204"/>
              </a:rPr>
              <a:t>Methodology</a:t>
            </a:r>
            <a:endParaRPr lang="en-IN">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Font typeface="Arial" panose="020B0604020202020204"/>
              <a:buChar char="⚫"/>
            </a:pPr>
            <a:r>
              <a:rPr lang="en-US" altLang="en-IN">
                <a:latin typeface="Arial" panose="020B0604020202020204"/>
                <a:ea typeface="Arial" panose="020B0604020202020204"/>
                <a:cs typeface="Arial" panose="020B0604020202020204"/>
                <a:sym typeface="Arial" panose="020B0604020202020204"/>
              </a:rPr>
              <a:t>Result</a:t>
            </a:r>
            <a:endParaRPr>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Char char="⚫"/>
            </a:pPr>
            <a:r>
              <a:rPr lang="en-IN">
                <a:latin typeface="Arial" panose="020B0604020202020204"/>
                <a:ea typeface="Arial" panose="020B0604020202020204"/>
                <a:cs typeface="Arial" panose="020B0604020202020204"/>
                <a:sym typeface="Arial" panose="020B0604020202020204"/>
              </a:rPr>
              <a:t>References</a:t>
            </a:r>
            <a:endParaRPr lang="en-IN">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None/>
            </a:pPr>
          </a:p>
          <a:p>
            <a:pPr marL="457200" lvl="0" indent="-228600" algn="l" rtl="0">
              <a:lnSpc>
                <a:spcPct val="100000"/>
              </a:lnSpc>
              <a:spcBef>
                <a:spcPts val="575"/>
              </a:spcBef>
              <a:spcAft>
                <a:spcPts val="0"/>
              </a:spcAft>
              <a:buSzPts val="1530"/>
              <a:buNone/>
            </a:pPr>
          </a:p>
          <a:p>
            <a:pPr marL="457200" lvl="0" indent="-228600" algn="l" rtl="0">
              <a:lnSpc>
                <a:spcPct val="100000"/>
              </a:lnSpc>
              <a:spcBef>
                <a:spcPts val="575"/>
              </a:spcBef>
              <a:spcAft>
                <a:spcPts val="0"/>
              </a:spcAft>
              <a:buSzPts val="153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7" name="Shape 57"/>
        <p:cNvGrpSpPr/>
        <p:nvPr/>
      </p:nvGrpSpPr>
      <p:grpSpPr>
        <a:xfrm>
          <a:off x="0" y="0"/>
          <a:ext cx="0" cy="0"/>
          <a:chOff x="0" y="0"/>
          <a:chExt cx="0" cy="0"/>
        </a:xfrm>
      </p:grpSpPr>
      <p:sp>
        <p:nvSpPr>
          <p:cNvPr id="58" name="Google Shape;58;p3"/>
          <p:cNvSpPr txBox="1"/>
          <p:nvPr>
            <p:ph type="title"/>
          </p:nvPr>
        </p:nvSpPr>
        <p:spPr>
          <a:xfrm>
            <a:off x="0" y="0"/>
            <a:ext cx="9144000" cy="642918"/>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SzPct val="39000"/>
              <a:buNone/>
            </a:pPr>
            <a:r>
              <a:rPr lang="en-IN">
                <a:latin typeface="Arial" panose="020B0604020202020204"/>
                <a:ea typeface="Arial" panose="020B0604020202020204"/>
                <a:cs typeface="Arial" panose="020B0604020202020204"/>
                <a:sym typeface="Arial" panose="020B0604020202020204"/>
              </a:rPr>
              <a:t>Introduction</a:t>
            </a:r>
            <a:endParaRPr>
              <a:latin typeface="Arial" panose="020B0604020202020204"/>
              <a:ea typeface="Arial" panose="020B0604020202020204"/>
              <a:cs typeface="Arial" panose="020B0604020202020204"/>
              <a:sym typeface="Arial" panose="020B0604020202020204"/>
            </a:endParaRPr>
          </a:p>
        </p:txBody>
      </p:sp>
      <p:sp>
        <p:nvSpPr>
          <p:cNvPr id="59" name="Google Shape;59;p3"/>
          <p:cNvSpPr txBox="1"/>
          <p:nvPr>
            <p:ph type="body" idx="1"/>
          </p:nvPr>
        </p:nvSpPr>
        <p:spPr>
          <a:xfrm>
            <a:off x="0" y="642918"/>
            <a:ext cx="9144000" cy="6215082"/>
          </a:xfrm>
          <a:prstGeom prst="rect">
            <a:avLst/>
          </a:prstGeom>
          <a:noFill/>
          <a:ln>
            <a:noFill/>
          </a:ln>
        </p:spPr>
        <p:txBody>
          <a:bodyPr spcFirstLastPara="1" wrap="square" lIns="91425" tIns="45700" rIns="91425" bIns="45700" anchor="t" anchorCtr="0">
            <a:noAutofit/>
          </a:bodyPr>
          <a:lstStyle/>
          <a:p>
            <a:pPr marL="457200" lvl="0" indent="-344805" algn="l" rtl="0">
              <a:lnSpc>
                <a:spcPct val="100000"/>
              </a:lnSpc>
              <a:spcBef>
                <a:spcPts val="575"/>
              </a:spcBef>
              <a:spcAft>
                <a:spcPts val="0"/>
              </a:spcAft>
              <a:buSzPts val="1830"/>
              <a:buChar char="⚫"/>
            </a:pPr>
            <a:r>
              <a:rPr lang="en-IN" sz="2100">
                <a:latin typeface="Arial" panose="020B0604020202020204"/>
                <a:ea typeface="Arial" panose="020B0604020202020204"/>
                <a:cs typeface="Arial" panose="020B0604020202020204"/>
                <a:sym typeface="Arial" panose="020B0604020202020204"/>
              </a:rPr>
              <a:t>According to the World Health Organization (WHO)’s official Situation Report – 205, coronavirus disease 2019 (COVID-19) has globally infected over 20 million people causing over 0.7million deaths [1]. Individuals with COVID19 have had a wide scope of symptoms reported – going from mellow manifestations to serious illness. Respiratory problems like shortness of breath or difficulty in breathing is one of them. Elder people having lung disease can possess serious complications from COVID-19 illness as they appear to be at higher risk.</a:t>
            </a:r>
            <a:endParaRPr sz="2100">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0"/>
              </a:spcBef>
              <a:spcAft>
                <a:spcPts val="0"/>
              </a:spcAft>
              <a:buSzPts val="1530"/>
              <a:buChar char="⚫"/>
            </a:pPr>
            <a:r>
              <a:rPr lang="en-IN" sz="2100">
                <a:latin typeface="Arial" panose="020B0604020202020204"/>
                <a:ea typeface="Arial" panose="020B0604020202020204"/>
                <a:cs typeface="Arial" panose="020B0604020202020204"/>
                <a:sym typeface="Arial" panose="020B0604020202020204"/>
              </a:rPr>
              <a:t>To curb certain respiratory viral ailments, including COVID-19, wearing a clinical mask is very necessary. The public should be aware of whether to put on the maskfor source control or aversion of COVID-19. Potential points of interest of the utilization of masks lie in reducing vulnerability of risk from a noxious individual during the “pre-symptomatic” period and stigmatization of discrete persons putting on masks to restraint the spread of virus. WHO stresses on prioritizing medical masks and respirators for health care assistants. Therefore, face mask detection has become a crucial task in present global society.  </a:t>
            </a:r>
            <a:r>
              <a:rPr lang="en-IN" sz="1800">
                <a:latin typeface="Arial" panose="020B0604020202020204"/>
                <a:ea typeface="Arial" panose="020B0604020202020204"/>
                <a:cs typeface="Arial" panose="020B0604020202020204"/>
                <a:sym typeface="Arial" panose="020B0604020202020204"/>
              </a:rPr>
              <a:t>  </a:t>
            </a:r>
            <a:br>
              <a:rPr lang="en-IN" sz="2200"/>
            </a:b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3" name="Shape 63"/>
        <p:cNvGrpSpPr/>
        <p:nvPr/>
      </p:nvGrpSpPr>
      <p:grpSpPr>
        <a:xfrm>
          <a:off x="0" y="0"/>
          <a:ext cx="0" cy="0"/>
          <a:chOff x="0" y="0"/>
          <a:chExt cx="0" cy="0"/>
        </a:xfrm>
      </p:grpSpPr>
      <p:sp>
        <p:nvSpPr>
          <p:cNvPr id="64" name="Google Shape;64;p4"/>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IN" sz="3600">
                <a:latin typeface="Arial" panose="020B0604020202020204"/>
                <a:ea typeface="Arial" panose="020B0604020202020204"/>
                <a:cs typeface="Arial" panose="020B0604020202020204"/>
                <a:sym typeface="Arial" panose="020B0604020202020204"/>
              </a:rPr>
              <a:t>Problem Definition</a:t>
            </a:r>
            <a:endParaRPr sz="3600">
              <a:latin typeface="Arial" panose="020B0604020202020204"/>
              <a:ea typeface="Arial" panose="020B0604020202020204"/>
              <a:cs typeface="Arial" panose="020B0604020202020204"/>
              <a:sym typeface="Arial" panose="020B0604020202020204"/>
            </a:endParaRPr>
          </a:p>
        </p:txBody>
      </p:sp>
      <p:sp>
        <p:nvSpPr>
          <p:cNvPr id="65" name="Google Shape;65;p4"/>
          <p:cNvSpPr txBox="1"/>
          <p:nvPr>
            <p:ph type="body" idx="1"/>
          </p:nvPr>
        </p:nvSpPr>
        <p:spPr>
          <a:xfrm>
            <a:off x="41450" y="642918"/>
            <a:ext cx="9144000" cy="62151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575"/>
              </a:spcBef>
              <a:spcAft>
                <a:spcPts val="0"/>
              </a:spcAft>
              <a:buSzPts val="2400"/>
              <a:buFont typeface="Arial" panose="020B0604020202020204"/>
              <a:buChar char="⚫"/>
            </a:pPr>
            <a:r>
              <a:rPr lang="en-IN" sz="2400">
                <a:latin typeface="Arial" panose="020B0604020202020204"/>
                <a:ea typeface="Arial" panose="020B0604020202020204"/>
                <a:cs typeface="Arial" panose="020B0604020202020204"/>
                <a:sym typeface="Arial" panose="020B0604020202020204"/>
              </a:rPr>
              <a:t>COVID-19 pandemic has rapidly affected our dayto-day life disrupting the world trade and movements. Wearing a protective face mask has become a new normal. In the near future, many public service providers will ask the customers to wear masks correctly to avail of their services.</a:t>
            </a:r>
            <a:endParaRPr sz="2400">
              <a:latin typeface="Arial" panose="020B0604020202020204"/>
              <a:ea typeface="Arial" panose="020B0604020202020204"/>
              <a:cs typeface="Arial" panose="020B0604020202020204"/>
              <a:sym typeface="Arial" panose="020B0604020202020204"/>
            </a:endParaRPr>
          </a:p>
          <a:p>
            <a:pPr marL="457200" lvl="0" indent="-381000" algn="l" rtl="0">
              <a:lnSpc>
                <a:spcPct val="100000"/>
              </a:lnSpc>
              <a:spcBef>
                <a:spcPts val="0"/>
              </a:spcBef>
              <a:spcAft>
                <a:spcPts val="0"/>
              </a:spcAft>
              <a:buSzPts val="2400"/>
              <a:buFont typeface="Arial" panose="020B0604020202020204"/>
              <a:buChar char="⚫"/>
            </a:pPr>
            <a:r>
              <a:rPr lang="en-IN" sz="2400">
                <a:latin typeface="Arial" panose="020B0604020202020204"/>
                <a:ea typeface="Arial" panose="020B0604020202020204"/>
                <a:cs typeface="Arial" panose="020B0604020202020204"/>
                <a:sym typeface="Arial" panose="020B0604020202020204"/>
              </a:rPr>
              <a:t>Therefore, face mask detection has become a crucial task to help global society.</a:t>
            </a:r>
            <a:endParaRPr sz="2400">
              <a:latin typeface="Arial" panose="020B0604020202020204"/>
              <a:ea typeface="Arial" panose="020B0604020202020204"/>
              <a:cs typeface="Arial" panose="020B0604020202020204"/>
              <a:sym typeface="Arial" panose="020B0604020202020204"/>
            </a:endParaRPr>
          </a:p>
          <a:p>
            <a:pPr marL="457200" lvl="0" indent="-381000" algn="l" rtl="0">
              <a:lnSpc>
                <a:spcPct val="100000"/>
              </a:lnSpc>
              <a:spcBef>
                <a:spcPts val="0"/>
              </a:spcBef>
              <a:spcAft>
                <a:spcPts val="0"/>
              </a:spcAft>
              <a:buSzPts val="2400"/>
              <a:buFont typeface="Arial" panose="020B0604020202020204"/>
              <a:buChar char="⚫"/>
            </a:pPr>
            <a:r>
              <a:rPr lang="en-IN" sz="2400">
                <a:latin typeface="Arial" panose="020B0604020202020204"/>
                <a:ea typeface="Arial" panose="020B0604020202020204"/>
                <a:cs typeface="Arial" panose="020B0604020202020204"/>
                <a:sym typeface="Arial" panose="020B0604020202020204"/>
              </a:rPr>
              <a:t>Our Goal is to propose a model </a:t>
            </a:r>
            <a:r>
              <a:rPr lang="en-IN" sz="2400">
                <a:latin typeface="Arial" panose="020B0604020202020204"/>
                <a:ea typeface="Arial" panose="020B0604020202020204"/>
                <a:cs typeface="Arial" panose="020B0604020202020204"/>
                <a:sym typeface="Arial" panose="020B0604020202020204"/>
              </a:rPr>
              <a:t>through</a:t>
            </a:r>
            <a:r>
              <a:rPr lang="en-IN" sz="2400">
                <a:latin typeface="Arial" panose="020B0604020202020204"/>
                <a:ea typeface="Arial" panose="020B0604020202020204"/>
                <a:cs typeface="Arial" panose="020B0604020202020204"/>
                <a:sym typeface="Arial" panose="020B0604020202020204"/>
              </a:rPr>
              <a:t> which we can determine if a person wearing the mask or not. We aim to increase the accuracy of the model and provide </a:t>
            </a:r>
            <a:r>
              <a:rPr lang="en-IN" sz="2400">
                <a:latin typeface="Arial" panose="020B0604020202020204"/>
                <a:ea typeface="Arial" panose="020B0604020202020204"/>
                <a:cs typeface="Arial" panose="020B0604020202020204"/>
                <a:sym typeface="Arial" panose="020B0604020202020204"/>
              </a:rPr>
              <a:t>assistance.</a:t>
            </a:r>
            <a:endParaRPr sz="2400">
              <a:latin typeface="Arial" panose="020B0604020202020204"/>
              <a:ea typeface="Arial" panose="020B0604020202020204"/>
              <a:cs typeface="Arial" panose="020B0604020202020204"/>
              <a:sym typeface="Arial" panose="020B0604020202020204"/>
            </a:endParaRPr>
          </a:p>
          <a:p>
            <a:pPr marL="457200" lvl="0" indent="0" algn="l" rtl="0">
              <a:lnSpc>
                <a:spcPct val="100000"/>
              </a:lnSpc>
              <a:spcBef>
                <a:spcPts val="575"/>
              </a:spcBef>
              <a:spcAft>
                <a:spcPts val="0"/>
              </a:spcAft>
              <a:buNone/>
            </a:pPr>
            <a:endParaRPr sz="2200">
              <a:latin typeface="Arial" panose="020B0604020202020204"/>
              <a:ea typeface="Arial" panose="020B0604020202020204"/>
              <a:cs typeface="Arial" panose="020B0604020202020204"/>
              <a:sym typeface="Arial" panose="020B0604020202020204"/>
            </a:endParaRPr>
          </a:p>
          <a:p>
            <a:pPr marL="457200" lvl="0" indent="0" algn="l" rtl="0">
              <a:lnSpc>
                <a:spcPct val="100000"/>
              </a:lnSpc>
              <a:spcBef>
                <a:spcPts val="575"/>
              </a:spcBef>
              <a:spcAft>
                <a:spcPts val="0"/>
              </a:spcAft>
              <a:buNone/>
            </a:pPr>
            <a:endParaRPr sz="2200"/>
          </a:p>
          <a:p>
            <a:pPr marL="457200" lvl="0" indent="0" algn="l" rtl="0">
              <a:lnSpc>
                <a:spcPct val="100000"/>
              </a:lnSpc>
              <a:spcBef>
                <a:spcPts val="575"/>
              </a:spcBef>
              <a:spcAft>
                <a:spcPts val="0"/>
              </a:spcAft>
              <a:buNone/>
            </a:pP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9" name="Shape 69"/>
        <p:cNvGrpSpPr/>
        <p:nvPr/>
      </p:nvGrpSpPr>
      <p:grpSpPr>
        <a:xfrm>
          <a:off x="0" y="0"/>
          <a:ext cx="0" cy="0"/>
          <a:chOff x="0" y="0"/>
          <a:chExt cx="0" cy="0"/>
        </a:xfrm>
      </p:grpSpPr>
      <p:sp>
        <p:nvSpPr>
          <p:cNvPr id="70" name="Google Shape;70;p5"/>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IN" sz="3600">
                <a:latin typeface="Arial" panose="020B0604020202020204"/>
                <a:ea typeface="Arial" panose="020B0604020202020204"/>
                <a:cs typeface="Arial" panose="020B0604020202020204"/>
                <a:sym typeface="Arial" panose="020B0604020202020204"/>
              </a:rPr>
              <a:t>Literature Review</a:t>
            </a:r>
            <a:endParaRPr sz="3600">
              <a:latin typeface="Arial" panose="020B0604020202020204"/>
              <a:ea typeface="Arial" panose="020B0604020202020204"/>
              <a:cs typeface="Arial" panose="020B0604020202020204"/>
              <a:sym typeface="Arial" panose="020B0604020202020204"/>
            </a:endParaRPr>
          </a:p>
        </p:txBody>
      </p:sp>
      <p:graphicFrame>
        <p:nvGraphicFramePr>
          <p:cNvPr id="71" name="Google Shape;71;p5"/>
          <p:cNvGraphicFramePr/>
          <p:nvPr/>
        </p:nvGraphicFramePr>
        <p:xfrm>
          <a:off x="142844" y="785793"/>
          <a:ext cx="8858325" cy="5106925"/>
        </p:xfrm>
        <a:graphic>
          <a:graphicData uri="http://schemas.openxmlformats.org/drawingml/2006/table">
            <a:tbl>
              <a:tblPr firstRow="1" bandRow="1">
                <a:noFill/>
                <a:tableStyleId>{8347AE4D-674B-4E3A-BB37-BCA7E2694DCC}</a:tableStyleId>
              </a:tblPr>
              <a:tblGrid>
                <a:gridCol w="881250"/>
                <a:gridCol w="2662075"/>
                <a:gridCol w="1771675"/>
                <a:gridCol w="808325"/>
                <a:gridCol w="2735000"/>
              </a:tblGrid>
              <a:tr h="4608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Sr.no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Title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Authors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Year</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Description</a:t>
                      </a:r>
                      <a:endParaRPr sz="1800" u="none" strike="noStrike" cap="none"/>
                    </a:p>
                  </a:txBody>
                  <a:tcPr marL="91450" marR="91450" marT="45725" marB="45725"/>
                </a:tc>
              </a:tr>
              <a:tr h="361017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Covid-19 Face Mask Detection Using TensorFlow, Keras and OpenCV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Arjya Das,Mohammad Wasif Ansari,Rohini Basak</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2020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This paper presents a simplified approach to achieve this purpose using Machine Learning packages like TensorFlow, Keras, OpenCV and Scikit-Learn. The proposed method detects the face from the image correctly and then identifies if it has a mask on it or not. As a surveillance task performer, it can also detect a face along with a mask in motion.</a:t>
                      </a:r>
                      <a:endParaRPr sz="1400" u="none" strike="noStrike" cap="none"/>
                    </a:p>
                  </a:txBody>
                  <a:tcPr marL="91450" marR="91450" marT="45725" marB="45725"/>
                </a:tc>
              </a:tr>
              <a:tr h="1035875">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5" name="Shape 75"/>
        <p:cNvGrpSpPr/>
        <p:nvPr/>
      </p:nvGrpSpPr>
      <p:grpSpPr>
        <a:xfrm>
          <a:off x="0" y="0"/>
          <a:ext cx="0" cy="0"/>
          <a:chOff x="0" y="0"/>
          <a:chExt cx="0" cy="0"/>
        </a:xfrm>
      </p:grpSpPr>
      <p:graphicFrame>
        <p:nvGraphicFramePr>
          <p:cNvPr id="76" name="Google Shape;76;p6"/>
          <p:cNvGraphicFramePr/>
          <p:nvPr/>
        </p:nvGraphicFramePr>
        <p:xfrm>
          <a:off x="214281" y="714356"/>
          <a:ext cx="8786875" cy="5786475"/>
        </p:xfrm>
        <a:graphic>
          <a:graphicData uri="http://schemas.openxmlformats.org/drawingml/2006/table">
            <a:tbl>
              <a:tblPr firstRow="1" bandRow="1">
                <a:noFill/>
                <a:tableStyleId>{8347AE4D-674B-4E3A-BB37-BCA7E2694DCC}</a:tableStyleId>
              </a:tblPr>
              <a:tblGrid>
                <a:gridCol w="884775"/>
                <a:gridCol w="2629975"/>
                <a:gridCol w="1757375"/>
                <a:gridCol w="875650"/>
                <a:gridCol w="2639100"/>
              </a:tblGrid>
              <a:tr h="6355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Sr.no</a:t>
                      </a:r>
                      <a:endParaRPr sz="18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Title</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Authors</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Year</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Description</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r h="3612375">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An Approach to Face Detection and Recognition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Divya Meena,Ravi Sharan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2016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Face detection has attracted immense attention because it has many applications in computer vision communication and automatic control system.Research into face detection, expression recognition, face tracking, pose estimation is required. By giving a single image, challenge is to detect the face from that image. Face detection is a challenging task because faces are not rigid and it changes in size, shape, color etc. In this paper, viola Jones algorithm is used to detect face and principal component analysis for face recognition</a:t>
                      </a:r>
                      <a:endParaRPr sz="1400" u="none" strike="noStrike" cap="none"/>
                    </a:p>
                  </a:txBody>
                  <a:tcPr marL="91450" marR="91450" marT="45725" marB="45725"/>
                </a:tc>
              </a:tr>
              <a:tr h="15386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0" name="Shape 80"/>
        <p:cNvGrpSpPr/>
        <p:nvPr/>
      </p:nvGrpSpPr>
      <p:grpSpPr>
        <a:xfrm>
          <a:off x="0" y="0"/>
          <a:ext cx="0" cy="0"/>
          <a:chOff x="0" y="0"/>
          <a:chExt cx="0" cy="0"/>
        </a:xfrm>
      </p:grpSpPr>
      <p:graphicFrame>
        <p:nvGraphicFramePr>
          <p:cNvPr id="81" name="Google Shape;81;p7"/>
          <p:cNvGraphicFramePr/>
          <p:nvPr/>
        </p:nvGraphicFramePr>
        <p:xfrm>
          <a:off x="214281" y="714357"/>
          <a:ext cx="8786875" cy="5857925"/>
        </p:xfrm>
        <a:graphic>
          <a:graphicData uri="http://schemas.openxmlformats.org/drawingml/2006/table">
            <a:tbl>
              <a:tblPr firstRow="1" bandRow="1">
                <a:noFill/>
                <a:tableStyleId>{8347AE4D-674B-4E3A-BB37-BCA7E2694DCC}</a:tableStyleId>
              </a:tblPr>
              <a:tblGrid>
                <a:gridCol w="884775"/>
                <a:gridCol w="2629975"/>
                <a:gridCol w="1757375"/>
                <a:gridCol w="875650"/>
                <a:gridCol w="2639100"/>
              </a:tblGrid>
              <a:tr h="47362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Sr.no</a:t>
                      </a:r>
                      <a:endParaRPr sz="18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Title</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Authors</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Year</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Description</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r h="269215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r>
                        <a:rPr lang="en-IN"/>
                        <a:t>Face Mask Detection Using OpenCV</a:t>
                      </a:r>
                      <a:endParaRPr lang="en-IN"/>
                    </a:p>
                    <a:p>
                      <a:pPr marL="0" marR="0" lvl="0" indent="0" algn="l" rtl="0">
                        <a:lnSpc>
                          <a:spcPct val="100000"/>
                        </a:lnSpc>
                        <a:spcBef>
                          <a:spcPts val="0"/>
                        </a:spcBef>
                        <a:spcAft>
                          <a:spcPts val="0"/>
                        </a:spcAft>
                        <a:buClr>
                          <a:schemeClr val="dk1"/>
                        </a:buClr>
                        <a:buSzPts val="1100"/>
                        <a:buFont typeface="Arial" panose="020B0604020202020204"/>
                        <a:buNone/>
                      </a:pPr>
                    </a:p>
                    <a:p>
                      <a:pPr marL="0" marR="0" lvl="0" indent="0" algn="l" rtl="0">
                        <a:lnSpc>
                          <a:spcPct val="100000"/>
                        </a:lnSpc>
                        <a:spcBef>
                          <a:spcPts val="0"/>
                        </a:spcBef>
                        <a:spcAft>
                          <a:spcPts val="0"/>
                        </a:spcAft>
                        <a:buClr>
                          <a:schemeClr val="dk1"/>
                        </a:buClr>
                        <a:buSzPts val="1100"/>
                        <a:buFont typeface="Arial" panose="020B0604020202020204"/>
                        <a:buNone/>
                      </a:pPr>
                      <a:endParaRPr i="1"/>
                    </a:p>
                    <a:p>
                      <a:pPr marL="0" marR="0" lvl="0" indent="0" algn="l" rtl="0">
                        <a:lnSpc>
                          <a:spcPct val="100000"/>
                        </a:lnSpc>
                        <a:spcBef>
                          <a:spcPts val="0"/>
                        </a:spcBef>
                        <a:spcAft>
                          <a:spcPts val="0"/>
                        </a:spcAft>
                        <a:buClr>
                          <a:srgbClr val="000000"/>
                        </a:buClr>
                        <a:buSzPts val="1400"/>
                        <a:buFont typeface="Arial" panose="020B0604020202020204"/>
                        <a:buNone/>
                      </a:pPr>
                    </a:p>
                  </a:txBody>
                  <a:tcPr marL="91450" marR="91450"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r>
                        <a:rPr lang="en-IN"/>
                        <a:t>Harish Adusumalli ,D Kalyani</a:t>
                      </a:r>
                      <a:endParaRPr lang="en-IN"/>
                    </a:p>
                    <a:p>
                      <a:pPr marL="0" marR="0" lvl="0" indent="0" algn="l" rtl="0">
                        <a:lnSpc>
                          <a:spcPct val="100000"/>
                        </a:lnSpc>
                        <a:spcBef>
                          <a:spcPts val="0"/>
                        </a:spcBef>
                        <a:spcAft>
                          <a:spcPts val="0"/>
                        </a:spcAft>
                        <a:buClr>
                          <a:srgbClr val="000000"/>
                        </a:buClr>
                        <a:buSzPts val="1400"/>
                        <a:buFont typeface="Arial" panose="020B0604020202020204"/>
                        <a:buNone/>
                      </a:p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2021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r>
                        <a:rPr lang="en-IN"/>
                        <a:t>The COVID-19 pandemic is causing a</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worldwide emergency in healthcare. This virus</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mainly spreads through droplets which emerge</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from a person infected with coronavirus and poses</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a risk to others. The risk of transmission is highest</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in public places. One of the best ways to stay safe</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from getting infected is wearing a face mask in open</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territories as indicated by the World Health</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Organization (WHO). In this project, we propose a</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method which employs TensorFlow and OpenCV to</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detect face masks on people. A bounding box</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drawn over the face of the person describes</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weather the person is wearing a mask or not. </a:t>
                      </a:r>
                      <a:endParaRPr lang="en-IN"/>
                    </a:p>
                  </a:txBody>
                  <a:tcPr marL="91450" marR="91450" marT="45725" marB="45725"/>
                </a:tc>
              </a:tr>
              <a:tr h="2692150">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graphicFrame>
        <p:nvGraphicFramePr>
          <p:cNvPr id="86" name="Google Shape;86;p8"/>
          <p:cNvGraphicFramePr/>
          <p:nvPr/>
        </p:nvGraphicFramePr>
        <p:xfrm>
          <a:off x="214281" y="714357"/>
          <a:ext cx="8786875" cy="5929350"/>
        </p:xfrm>
        <a:graphic>
          <a:graphicData uri="http://schemas.openxmlformats.org/drawingml/2006/table">
            <a:tbl>
              <a:tblPr firstRow="1" bandRow="1">
                <a:noFill/>
                <a:tableStyleId>{8347AE4D-674B-4E3A-BB37-BCA7E2694DCC}</a:tableStyleId>
              </a:tblPr>
              <a:tblGrid>
                <a:gridCol w="884775"/>
                <a:gridCol w="2629975"/>
                <a:gridCol w="1757375"/>
                <a:gridCol w="875650"/>
                <a:gridCol w="2639100"/>
              </a:tblGrid>
              <a:tr h="53392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Sr.no</a:t>
                      </a:r>
                      <a:endParaRPr sz="18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Title</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Authors</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Year</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IN" sz="1800" u="none" strike="noStrike" cap="none"/>
                        <a:t>Description</a:t>
                      </a:r>
                      <a:endParaRPr sz="1400" u="none" strike="noStrike" cap="none"/>
                    </a:p>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r h="24448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r>
                        <a:rPr lang="en-IN"/>
                        <a:t>Advice on the use of masks in the context of COVID-19</a:t>
                      </a:r>
                      <a:endParaRPr lang="en-IN"/>
                    </a:p>
                    <a:p>
                      <a:pPr marL="0" marR="0" lvl="0" indent="0" algn="l" rtl="0">
                        <a:lnSpc>
                          <a:spcPct val="100000"/>
                        </a:lnSpc>
                        <a:spcBef>
                          <a:spcPts val="0"/>
                        </a:spcBef>
                        <a:spcAft>
                          <a:spcPts val="0"/>
                        </a:spcAft>
                        <a:buClr>
                          <a:srgbClr val="000000"/>
                        </a:buClr>
                        <a:buSzPts val="1400"/>
                        <a:buFont typeface="Arial" panose="020B0604020202020204"/>
                        <a:buNone/>
                      </a:p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WHO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IN"/>
                        <a:t>2020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100"/>
                        <a:buFont typeface="Arial" panose="020B0604020202020204"/>
                        <a:buNone/>
                      </a:pPr>
                      <a:r>
                        <a:rPr lang="en-IN"/>
                        <a:t>This document provides advice on the use of masks in</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communities, during home care, and in health care settings in</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areas that have reported cases of COVID-19. It is intended for</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individuals in the community, public health and infection</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prevention and control (IPC) professionals, health care</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managers, health care workers (HCWs), and community</a:t>
                      </a:r>
                      <a:endParaRPr lang="en-IN"/>
                    </a:p>
                    <a:p>
                      <a:pPr marL="0" marR="0" lvl="0" indent="0" algn="l" rtl="0">
                        <a:lnSpc>
                          <a:spcPct val="100000"/>
                        </a:lnSpc>
                        <a:spcBef>
                          <a:spcPts val="0"/>
                        </a:spcBef>
                        <a:spcAft>
                          <a:spcPts val="0"/>
                        </a:spcAft>
                        <a:buClr>
                          <a:schemeClr val="dk1"/>
                        </a:buClr>
                        <a:buSzPts val="1100"/>
                        <a:buFont typeface="Arial" panose="020B0604020202020204"/>
                        <a:buNone/>
                      </a:pPr>
                      <a:r>
                        <a:rPr lang="en-IN"/>
                        <a:t>health workers. </a:t>
                      </a:r>
                      <a:endParaRPr lang="en-IN"/>
                    </a:p>
                    <a:p>
                      <a:pPr marL="0" marR="0" lvl="0" indent="0" algn="l" rtl="0">
                        <a:lnSpc>
                          <a:spcPct val="100000"/>
                        </a:lnSpc>
                        <a:spcBef>
                          <a:spcPts val="0"/>
                        </a:spcBef>
                        <a:spcAft>
                          <a:spcPts val="0"/>
                        </a:spcAft>
                        <a:buClr>
                          <a:srgbClr val="000000"/>
                        </a:buClr>
                        <a:buSzPts val="1400"/>
                        <a:buFont typeface="Arial" panose="020B0604020202020204"/>
                        <a:buNone/>
                      </a:pPr>
                    </a:p>
                  </a:txBody>
                  <a:tcPr marL="91450" marR="91450" marT="45725" marB="45725"/>
                </a:tc>
              </a:tr>
              <a:tr h="2950625">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50" marR="91450" marT="45725" marB="457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0" name="Shape 90"/>
        <p:cNvGrpSpPr/>
        <p:nvPr/>
      </p:nvGrpSpPr>
      <p:grpSpPr>
        <a:xfrm>
          <a:off x="0" y="0"/>
          <a:ext cx="0" cy="0"/>
          <a:chOff x="0" y="0"/>
          <a:chExt cx="0" cy="0"/>
        </a:xfrm>
      </p:grpSpPr>
      <p:sp>
        <p:nvSpPr>
          <p:cNvPr id="91" name="Google Shape;91;p9"/>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br>
              <a:rPr lang="en-IN"/>
            </a:br>
            <a:r>
              <a:rPr lang="en-IN" sz="3600">
                <a:latin typeface="Arial" panose="020B0604020202020204"/>
                <a:ea typeface="Arial" panose="020B0604020202020204"/>
                <a:cs typeface="Arial" panose="020B0604020202020204"/>
                <a:sym typeface="Arial" panose="020B0604020202020204"/>
              </a:rPr>
              <a:t>Tools Used</a:t>
            </a:r>
            <a:endParaRPr sz="3600">
              <a:latin typeface="Arial" panose="020B0604020202020204"/>
              <a:ea typeface="Arial" panose="020B0604020202020204"/>
              <a:cs typeface="Arial" panose="020B0604020202020204"/>
              <a:sym typeface="Arial" panose="020B0604020202020204"/>
            </a:endParaRPr>
          </a:p>
        </p:txBody>
      </p:sp>
      <p:sp>
        <p:nvSpPr>
          <p:cNvPr id="92" name="Google Shape;92;p9"/>
          <p:cNvSpPr txBox="1"/>
          <p:nvPr>
            <p:ph type="body" idx="1"/>
          </p:nvPr>
        </p:nvSpPr>
        <p:spPr>
          <a:xfrm>
            <a:off x="0" y="642918"/>
            <a:ext cx="9144000" cy="6215100"/>
          </a:xfrm>
          <a:prstGeom prst="rect">
            <a:avLst/>
          </a:prstGeom>
          <a:noFill/>
          <a:ln>
            <a:noFill/>
          </a:ln>
        </p:spPr>
        <p:txBody>
          <a:bodyPr spcFirstLastPara="1" wrap="square" lIns="91425" tIns="45700" rIns="91425" bIns="45700" anchor="t" anchorCtr="0">
            <a:noAutofit/>
          </a:bodyPr>
          <a:lstStyle/>
          <a:p>
            <a:pPr marL="457200" lvl="0" indent="-368300" algn="l" rtl="0">
              <a:lnSpc>
                <a:spcPct val="100000"/>
              </a:lnSpc>
              <a:spcBef>
                <a:spcPts val="575"/>
              </a:spcBef>
              <a:spcAft>
                <a:spcPts val="0"/>
              </a:spcAft>
              <a:buSzPts val="2200"/>
              <a:buChar char="⚫"/>
            </a:pPr>
            <a:r>
              <a:rPr lang="en-IN" sz="2200" b="1">
                <a:latin typeface="Arial" panose="020B0604020202020204"/>
                <a:ea typeface="Arial" panose="020B0604020202020204"/>
                <a:cs typeface="Arial" panose="020B0604020202020204"/>
                <a:sym typeface="Arial" panose="020B0604020202020204"/>
              </a:rPr>
              <a:t>TensorFlow</a:t>
            </a:r>
            <a:r>
              <a:rPr lang="en-IN" sz="2200" b="1">
                <a:latin typeface="Arial" panose="020B0604020202020204"/>
                <a:ea typeface="Arial" panose="020B0604020202020204"/>
                <a:cs typeface="Arial" panose="020B0604020202020204"/>
                <a:sym typeface="Arial" panose="020B0604020202020204"/>
              </a:rPr>
              <a:t>: </a:t>
            </a:r>
            <a:r>
              <a:rPr lang="en-IN" sz="2100">
                <a:latin typeface="Arial" panose="020B0604020202020204"/>
                <a:ea typeface="Arial" panose="020B0604020202020204"/>
                <a:cs typeface="Arial" panose="020B0604020202020204"/>
                <a:sym typeface="Arial" panose="020B0604020202020204"/>
              </a:rPr>
              <a:t>TensorFlow, an interface for expressing machine learning algorithms, is utilized for implementing ML systems into fabrication over a bunch of areas of computer science, including sentiment analysis, voice recognition, geographic information extraction, computer vision, text summarization, information retrieval, computational drug discovery and flaw detection to pursue research . In the proposed model, the whole Sequential CNN architecture (consists of several layers) uses TensorFlow at backend. It is also used to reshape the data (image) in the data processing. </a:t>
            </a:r>
            <a:endParaRPr sz="2100">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Font typeface="Arial" panose="020B0604020202020204"/>
              <a:buChar char="⚫"/>
            </a:pPr>
            <a:r>
              <a:rPr lang="en-IN" sz="2100" b="1">
                <a:latin typeface="Arial" panose="020B0604020202020204"/>
                <a:ea typeface="Arial" panose="020B0604020202020204"/>
                <a:cs typeface="Arial" panose="020B0604020202020204"/>
                <a:sym typeface="Arial" panose="020B0604020202020204"/>
              </a:rPr>
              <a:t>Keras: </a:t>
            </a:r>
            <a:r>
              <a:rPr lang="en-IN" sz="2100">
                <a:latin typeface="Arial" panose="020B0604020202020204"/>
                <a:ea typeface="Arial" panose="020B0604020202020204"/>
                <a:cs typeface="Arial" panose="020B0604020202020204"/>
                <a:sym typeface="Arial" panose="020B0604020202020204"/>
              </a:rPr>
              <a:t>Keras gives fundamental reflections and building units for creation and transportation of ML arrangements with high iteration velocity. It takes full advantage of the scalability and cross-platform capabilities of TensorFlow. The core data structures of Keras are layers and models. All the layers used in the CNN model are implemented using Keras. Along with the conversion of the class vector to the binary class matrix in data processing, it helps to compile the overall model.</a:t>
            </a:r>
            <a:endParaRPr sz="2100">
              <a:latin typeface="Arial" panose="020B0604020202020204"/>
              <a:ea typeface="Arial" panose="020B0604020202020204"/>
              <a:cs typeface="Arial" panose="020B0604020202020204"/>
              <a:sym typeface="Arial" panose="020B0604020202020204"/>
            </a:endParaRPr>
          </a:p>
          <a:p>
            <a:pPr marL="914400" lvl="0" indent="0" algn="l" rtl="0">
              <a:lnSpc>
                <a:spcPct val="100000"/>
              </a:lnSpc>
              <a:spcBef>
                <a:spcPts val="575"/>
              </a:spcBef>
              <a:spcAft>
                <a:spcPts val="0"/>
              </a:spcAft>
              <a:buSzPts val="1530"/>
              <a:buNone/>
            </a:pPr>
            <a:endParaRPr sz="21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g11832f7a9af_0_6"/>
          <p:cNvSpPr txBox="1"/>
          <p:nvPr>
            <p:ph type="title"/>
          </p:nvPr>
        </p:nvSpPr>
        <p:spPr>
          <a:xfrm>
            <a:off x="0" y="0"/>
            <a:ext cx="9144000" cy="657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p>
        </p:txBody>
      </p:sp>
      <p:sp>
        <p:nvSpPr>
          <p:cNvPr id="99" name="Google Shape;99;g11832f7a9af_0_6"/>
          <p:cNvSpPr txBox="1"/>
          <p:nvPr>
            <p:ph type="body" idx="1"/>
          </p:nvPr>
        </p:nvSpPr>
        <p:spPr>
          <a:xfrm>
            <a:off x="0" y="657000"/>
            <a:ext cx="9044100" cy="6201000"/>
          </a:xfrm>
          <a:prstGeom prst="rect">
            <a:avLst/>
          </a:prstGeom>
          <a:noFill/>
          <a:ln>
            <a:noFill/>
          </a:ln>
        </p:spPr>
        <p:txBody>
          <a:bodyPr spcFirstLastPara="1" wrap="square" lIns="91425" tIns="45700" rIns="91425" bIns="45700" anchor="t" anchorCtr="0">
            <a:noAutofit/>
          </a:bodyPr>
          <a:lstStyle/>
          <a:p>
            <a:pPr marL="457200" lvl="0" indent="-325755" algn="l" rtl="0">
              <a:lnSpc>
                <a:spcPct val="100000"/>
              </a:lnSpc>
              <a:spcBef>
                <a:spcPts val="575"/>
              </a:spcBef>
              <a:spcAft>
                <a:spcPts val="0"/>
              </a:spcAft>
              <a:buSzPts val="1530"/>
              <a:buChar char="⚫"/>
            </a:pPr>
            <a:r>
              <a:rPr lang="en-IN" sz="2100" b="1">
                <a:latin typeface="Arial" panose="020B0604020202020204"/>
                <a:ea typeface="Arial" panose="020B0604020202020204"/>
                <a:cs typeface="Arial" panose="020B0604020202020204"/>
                <a:sym typeface="Arial" panose="020B0604020202020204"/>
              </a:rPr>
              <a:t>OpenCV: </a:t>
            </a:r>
            <a:r>
              <a:rPr lang="en-IN" sz="2100">
                <a:latin typeface="Arial" panose="020B0604020202020204"/>
                <a:ea typeface="Arial" panose="020B0604020202020204"/>
                <a:cs typeface="Arial" panose="020B0604020202020204"/>
                <a:sym typeface="Arial" panose="020B0604020202020204"/>
              </a:rPr>
              <a:t>OpenCV (Open Source Computer Vision Library), an opensource computer vision and ML software library, is utilized to differentiate and recognize faces, recognize objects, group movements in recordings, trace progressive modules, follow eye gesture, track camera actions, expel red eyes from pictures taken utilizing flash, find comparative pictures from an image database, perceive landscape and set up markers to overlay it with increased reality and so forth . The proposed method makes use of these features of OpenCV in resizing and color conversion of data images</a:t>
            </a:r>
            <a:endParaRPr sz="2100">
              <a:latin typeface="Arial" panose="020B0604020202020204"/>
              <a:ea typeface="Arial" panose="020B0604020202020204"/>
              <a:cs typeface="Arial" panose="020B0604020202020204"/>
              <a:sym typeface="Arial" panose="020B0604020202020204"/>
            </a:endParaRPr>
          </a:p>
          <a:p>
            <a:pPr marL="131445" lvl="0" indent="0" algn="l" rtl="0">
              <a:lnSpc>
                <a:spcPct val="100000"/>
              </a:lnSpc>
              <a:spcBef>
                <a:spcPts val="575"/>
              </a:spcBef>
              <a:spcAft>
                <a:spcPts val="0"/>
              </a:spcAft>
              <a:buSzPts val="1530"/>
              <a:buNone/>
            </a:pPr>
            <a:endParaRPr sz="2100">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12"/>
          <p:cNvSpPr txBox="1"/>
          <p:nvPr>
            <p:ph type="title"/>
          </p:nvPr>
        </p:nvSpPr>
        <p:spPr>
          <a:xfrm>
            <a:off x="0" y="0"/>
            <a:ext cx="9144000" cy="642918"/>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SzPct val="39000"/>
              <a:buNone/>
            </a:pPr>
            <a:r>
              <a:rPr lang="en-IN">
                <a:latin typeface="Arial" panose="020B0604020202020204"/>
                <a:ea typeface="Arial" panose="020B0604020202020204"/>
                <a:cs typeface="Arial" panose="020B0604020202020204"/>
                <a:sym typeface="Arial" panose="020B0604020202020204"/>
              </a:rPr>
              <a:t>Methodology</a:t>
            </a:r>
            <a:endParaRPr>
              <a:latin typeface="Arial" panose="020B0604020202020204"/>
              <a:ea typeface="Arial" panose="020B0604020202020204"/>
              <a:cs typeface="Arial" panose="020B0604020202020204"/>
              <a:sym typeface="Arial" panose="020B0604020202020204"/>
            </a:endParaRPr>
          </a:p>
        </p:txBody>
      </p:sp>
      <p:grpSp>
        <p:nvGrpSpPr>
          <p:cNvPr id="105" name="Google Shape;105;p12"/>
          <p:cNvGrpSpPr/>
          <p:nvPr/>
        </p:nvGrpSpPr>
        <p:grpSpPr>
          <a:xfrm>
            <a:off x="1918513" y="1351575"/>
            <a:ext cx="1855817" cy="2569228"/>
            <a:chOff x="2283710" y="1332835"/>
            <a:chExt cx="1606073" cy="1271014"/>
          </a:xfrm>
        </p:grpSpPr>
        <p:cxnSp>
          <p:nvCxnSpPr>
            <p:cNvPr id="106" name="Google Shape;106;p12"/>
            <p:cNvCxnSpPr>
              <a:stCxn id="107" idx="2"/>
            </p:cNvCxnSpPr>
            <p:nvPr/>
          </p:nvCxnSpPr>
          <p:spPr>
            <a:xfrm>
              <a:off x="2994419" y="1574035"/>
              <a:ext cx="592200" cy="722100"/>
            </a:xfrm>
            <a:prstGeom prst="straightConnector1">
              <a:avLst/>
            </a:prstGeom>
            <a:noFill/>
            <a:ln w="9525" cap="flat" cmpd="sng">
              <a:solidFill>
                <a:srgbClr val="0D5DDF"/>
              </a:solidFill>
              <a:prstDash val="solid"/>
              <a:round/>
              <a:headEnd type="none" w="sm" len="sm"/>
              <a:tailEnd type="none" w="sm" len="sm"/>
            </a:ln>
          </p:spPr>
        </p:cxnSp>
        <p:sp>
          <p:nvSpPr>
            <p:cNvPr id="108" name="Google Shape;108;p12"/>
            <p:cNvSpPr/>
            <p:nvPr/>
          </p:nvSpPr>
          <p:spPr>
            <a:xfrm flipH="1">
              <a:off x="2283710" y="2306625"/>
              <a:ext cx="1605900" cy="143400"/>
            </a:xfrm>
            <a:prstGeom prst="parallelogram">
              <a:avLst>
                <a:gd name="adj" fmla="val 96952"/>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lang="en-IN"/>
            </a:p>
          </p:txBody>
        </p:sp>
        <p:sp>
          <p:nvSpPr>
            <p:cNvPr id="109" name="Google Shape;109;p12"/>
            <p:cNvSpPr/>
            <p:nvPr/>
          </p:nvSpPr>
          <p:spPr>
            <a:xfrm>
              <a:off x="2283883" y="2460450"/>
              <a:ext cx="1605900" cy="143400"/>
            </a:xfrm>
            <a:prstGeom prst="parallelogram">
              <a:avLst>
                <a:gd name="adj" fmla="val 96952"/>
              </a:avLst>
            </a:prstGeom>
            <a:solidFill>
              <a:srgbClr val="0944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12"/>
            <p:cNvSpPr txBox="1"/>
            <p:nvPr/>
          </p:nvSpPr>
          <p:spPr>
            <a:xfrm>
              <a:off x="2402219" y="1332835"/>
              <a:ext cx="1184400" cy="24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IN" sz="1300">
                  <a:solidFill>
                    <a:srgbClr val="0C58D3"/>
                  </a:solidFill>
                </a:rPr>
                <a:t>Pre Processing</a:t>
              </a:r>
              <a:endParaRPr sz="1300">
                <a:solidFill>
                  <a:srgbClr val="0C58D3"/>
                </a:solidFill>
              </a:endParaRPr>
            </a:p>
          </p:txBody>
        </p:sp>
      </p:grpSp>
      <p:grpSp>
        <p:nvGrpSpPr>
          <p:cNvPr id="110" name="Google Shape;110;p12"/>
          <p:cNvGrpSpPr/>
          <p:nvPr/>
        </p:nvGrpSpPr>
        <p:grpSpPr>
          <a:xfrm>
            <a:off x="3634603" y="1839125"/>
            <a:ext cx="1855817" cy="2081678"/>
            <a:chOff x="3768859" y="1574030"/>
            <a:chExt cx="1606073" cy="1029820"/>
          </a:xfrm>
        </p:grpSpPr>
        <p:cxnSp>
          <p:nvCxnSpPr>
            <p:cNvPr id="111" name="Google Shape;111;p12"/>
            <p:cNvCxnSpPr>
              <a:stCxn id="112" idx="2"/>
            </p:cNvCxnSpPr>
            <p:nvPr/>
          </p:nvCxnSpPr>
          <p:spPr>
            <a:xfrm>
              <a:off x="4658088" y="1815230"/>
              <a:ext cx="697500" cy="622200"/>
            </a:xfrm>
            <a:prstGeom prst="straightConnector1">
              <a:avLst/>
            </a:prstGeom>
            <a:noFill/>
            <a:ln w="9525" cap="flat" cmpd="sng">
              <a:solidFill>
                <a:srgbClr val="C2C2C2"/>
              </a:solidFill>
              <a:prstDash val="solid"/>
              <a:round/>
              <a:headEnd type="none" w="sm" len="sm"/>
              <a:tailEnd type="none" w="sm" len="sm"/>
            </a:ln>
          </p:spPr>
        </p:cxnSp>
        <p:sp>
          <p:nvSpPr>
            <p:cNvPr id="113" name="Google Shape;113;p12"/>
            <p:cNvSpPr/>
            <p:nvPr/>
          </p:nvSpPr>
          <p:spPr>
            <a:xfrm flipH="1">
              <a:off x="3768859" y="2306625"/>
              <a:ext cx="1605900" cy="143400"/>
            </a:xfrm>
            <a:prstGeom prst="parallelogram">
              <a:avLst>
                <a:gd name="adj" fmla="val 96952"/>
              </a:avLst>
            </a:pr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lang="en-IN"/>
            </a:p>
          </p:txBody>
        </p:sp>
        <p:sp>
          <p:nvSpPr>
            <p:cNvPr id="114" name="Google Shape;114;p12"/>
            <p:cNvSpPr/>
            <p:nvPr/>
          </p:nvSpPr>
          <p:spPr>
            <a:xfrm>
              <a:off x="3769032" y="2460450"/>
              <a:ext cx="1605900" cy="143400"/>
            </a:xfrm>
            <a:prstGeom prst="parallelogram">
              <a:avLst>
                <a:gd name="adj" fmla="val 96952"/>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2"/>
            <p:cNvSpPr txBox="1"/>
            <p:nvPr/>
          </p:nvSpPr>
          <p:spPr>
            <a:xfrm>
              <a:off x="4059588" y="1574030"/>
              <a:ext cx="1197000" cy="24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IN">
                  <a:solidFill>
                    <a:srgbClr val="858585"/>
                  </a:solidFill>
                </a:rPr>
                <a:t>Training Model</a:t>
              </a:r>
              <a:endParaRPr>
                <a:solidFill>
                  <a:srgbClr val="858585"/>
                </a:solidFill>
              </a:endParaRPr>
            </a:p>
          </p:txBody>
        </p:sp>
      </p:grpSp>
      <p:grpSp>
        <p:nvGrpSpPr>
          <p:cNvPr id="115" name="Google Shape;115;p12"/>
          <p:cNvGrpSpPr/>
          <p:nvPr/>
        </p:nvGrpSpPr>
        <p:grpSpPr>
          <a:xfrm>
            <a:off x="5342625" y="1351575"/>
            <a:ext cx="1866927" cy="2569228"/>
            <a:chOff x="5247026" y="1332835"/>
            <a:chExt cx="1615687" cy="1271014"/>
          </a:xfrm>
        </p:grpSpPr>
        <p:cxnSp>
          <p:nvCxnSpPr>
            <p:cNvPr id="116" name="Google Shape;116;p12"/>
            <p:cNvCxnSpPr>
              <a:stCxn id="117" idx="2"/>
            </p:cNvCxnSpPr>
            <p:nvPr/>
          </p:nvCxnSpPr>
          <p:spPr>
            <a:xfrm>
              <a:off x="6049976" y="1574035"/>
              <a:ext cx="793200" cy="863400"/>
            </a:xfrm>
            <a:prstGeom prst="straightConnector1">
              <a:avLst/>
            </a:prstGeom>
            <a:noFill/>
            <a:ln w="9525" cap="flat" cmpd="sng">
              <a:solidFill>
                <a:srgbClr val="C2C2C2"/>
              </a:solidFill>
              <a:prstDash val="solid"/>
              <a:round/>
              <a:headEnd type="none" w="sm" len="sm"/>
              <a:tailEnd type="none" w="sm" len="sm"/>
            </a:ln>
          </p:spPr>
        </p:cxnSp>
        <p:sp>
          <p:nvSpPr>
            <p:cNvPr id="118" name="Google Shape;118;p12"/>
            <p:cNvSpPr/>
            <p:nvPr/>
          </p:nvSpPr>
          <p:spPr>
            <a:xfrm flipH="1">
              <a:off x="5256641" y="2306625"/>
              <a:ext cx="1605900" cy="143400"/>
            </a:xfrm>
            <a:prstGeom prst="parallelogram">
              <a:avLst>
                <a:gd name="adj" fmla="val 96952"/>
              </a:avLst>
            </a:pr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lang="en-IN"/>
            </a:p>
          </p:txBody>
        </p:sp>
        <p:sp>
          <p:nvSpPr>
            <p:cNvPr id="119" name="Google Shape;119;p12"/>
            <p:cNvSpPr/>
            <p:nvPr/>
          </p:nvSpPr>
          <p:spPr>
            <a:xfrm>
              <a:off x="5256813" y="2460450"/>
              <a:ext cx="1605900" cy="143400"/>
            </a:xfrm>
            <a:prstGeom prst="parallelogram">
              <a:avLst>
                <a:gd name="adj" fmla="val 96952"/>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2"/>
            <p:cNvSpPr txBox="1"/>
            <p:nvPr/>
          </p:nvSpPr>
          <p:spPr>
            <a:xfrm>
              <a:off x="5247026" y="1332835"/>
              <a:ext cx="1605900" cy="24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IN" sz="1700">
                  <a:solidFill>
                    <a:srgbClr val="858585"/>
                  </a:solidFill>
                </a:rPr>
                <a:t>  Classification</a:t>
              </a:r>
              <a:endParaRPr sz="1700">
                <a:solidFill>
                  <a:srgbClr val="858585"/>
                </a:solidFill>
              </a:endParaRPr>
            </a:p>
          </p:txBody>
        </p:sp>
      </p:grpSp>
      <p:grpSp>
        <p:nvGrpSpPr>
          <p:cNvPr id="120" name="Google Shape;120;p12"/>
          <p:cNvGrpSpPr/>
          <p:nvPr/>
        </p:nvGrpSpPr>
        <p:grpSpPr>
          <a:xfrm>
            <a:off x="7069824" y="1839125"/>
            <a:ext cx="1855817" cy="2081678"/>
            <a:chOff x="6741789" y="1574030"/>
            <a:chExt cx="1606073" cy="1029820"/>
          </a:xfrm>
        </p:grpSpPr>
        <p:cxnSp>
          <p:nvCxnSpPr>
            <p:cNvPr id="121" name="Google Shape;121;p12"/>
            <p:cNvCxnSpPr>
              <a:stCxn id="122" idx="2"/>
            </p:cNvCxnSpPr>
            <p:nvPr/>
          </p:nvCxnSpPr>
          <p:spPr>
            <a:xfrm>
              <a:off x="7494062" y="1815230"/>
              <a:ext cx="834300" cy="622200"/>
            </a:xfrm>
            <a:prstGeom prst="straightConnector1">
              <a:avLst/>
            </a:prstGeom>
            <a:noFill/>
            <a:ln w="9525" cap="flat" cmpd="sng">
              <a:solidFill>
                <a:srgbClr val="C2C2C2"/>
              </a:solidFill>
              <a:prstDash val="solid"/>
              <a:round/>
              <a:headEnd type="none" w="sm" len="sm"/>
              <a:tailEnd type="none" w="sm" len="sm"/>
            </a:ln>
          </p:spPr>
        </p:cxnSp>
        <p:sp>
          <p:nvSpPr>
            <p:cNvPr id="123" name="Google Shape;123;p12"/>
            <p:cNvSpPr/>
            <p:nvPr/>
          </p:nvSpPr>
          <p:spPr>
            <a:xfrm flipH="1">
              <a:off x="6741789" y="2306625"/>
              <a:ext cx="1605900" cy="143400"/>
            </a:xfrm>
            <a:prstGeom prst="parallelogram">
              <a:avLst>
                <a:gd name="adj" fmla="val 96952"/>
              </a:avLst>
            </a:pr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lang="en-IN"/>
            </a:p>
          </p:txBody>
        </p:sp>
        <p:sp>
          <p:nvSpPr>
            <p:cNvPr id="124" name="Google Shape;124;p12"/>
            <p:cNvSpPr/>
            <p:nvPr/>
          </p:nvSpPr>
          <p:spPr>
            <a:xfrm>
              <a:off x="6741962" y="2460450"/>
              <a:ext cx="1605900" cy="143400"/>
            </a:xfrm>
            <a:prstGeom prst="parallelogram">
              <a:avLst>
                <a:gd name="adj" fmla="val 96952"/>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2"/>
            <p:cNvSpPr txBox="1"/>
            <p:nvPr/>
          </p:nvSpPr>
          <p:spPr>
            <a:xfrm>
              <a:off x="6862712" y="1574030"/>
              <a:ext cx="1262700" cy="24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IN" sz="800">
                  <a:solidFill>
                    <a:srgbClr val="858585"/>
                  </a:solidFill>
                  <a:latin typeface="Roboto" panose="02000000000000000000"/>
                  <a:ea typeface="Roboto" panose="02000000000000000000"/>
                  <a:cs typeface="Roboto" panose="02000000000000000000"/>
                  <a:sym typeface="Roboto" panose="02000000000000000000"/>
                </a:rPr>
                <a:t>              </a:t>
              </a:r>
              <a:r>
                <a:rPr lang="en-IN" sz="1500">
                  <a:solidFill>
                    <a:srgbClr val="858585"/>
                  </a:solidFill>
                </a:rPr>
                <a:t>Output</a:t>
              </a:r>
              <a:endParaRPr sz="1500">
                <a:solidFill>
                  <a:srgbClr val="858585"/>
                </a:solidFill>
              </a:endParaRPr>
            </a:p>
          </p:txBody>
        </p:sp>
      </p:grpSp>
      <p:grpSp>
        <p:nvGrpSpPr>
          <p:cNvPr id="125" name="Google Shape;125;p12"/>
          <p:cNvGrpSpPr/>
          <p:nvPr/>
        </p:nvGrpSpPr>
        <p:grpSpPr>
          <a:xfrm>
            <a:off x="199624" y="1839125"/>
            <a:ext cx="1855817" cy="2081678"/>
            <a:chOff x="796138" y="1574030"/>
            <a:chExt cx="1606073" cy="1029820"/>
          </a:xfrm>
        </p:grpSpPr>
        <p:grpSp>
          <p:nvGrpSpPr>
            <p:cNvPr id="126" name="Google Shape;126;p12"/>
            <p:cNvGrpSpPr/>
            <p:nvPr/>
          </p:nvGrpSpPr>
          <p:grpSpPr>
            <a:xfrm>
              <a:off x="796138" y="1815230"/>
              <a:ext cx="1606073" cy="788620"/>
              <a:chOff x="796138" y="1815230"/>
              <a:chExt cx="1606073" cy="788620"/>
            </a:xfrm>
          </p:grpSpPr>
          <p:cxnSp>
            <p:nvCxnSpPr>
              <p:cNvPr id="127" name="Google Shape;127;p12"/>
              <p:cNvCxnSpPr>
                <a:stCxn id="128" idx="2"/>
              </p:cNvCxnSpPr>
              <p:nvPr/>
            </p:nvCxnSpPr>
            <p:spPr>
              <a:xfrm>
                <a:off x="1573560" y="1815230"/>
                <a:ext cx="809400" cy="622200"/>
              </a:xfrm>
              <a:prstGeom prst="straightConnector1">
                <a:avLst/>
              </a:prstGeom>
              <a:noFill/>
              <a:ln w="9525" cap="flat" cmpd="sng">
                <a:solidFill>
                  <a:srgbClr val="0D5DDF"/>
                </a:solidFill>
                <a:prstDash val="solid"/>
                <a:round/>
                <a:headEnd type="none" w="sm" len="sm"/>
                <a:tailEnd type="none" w="sm" len="sm"/>
              </a:ln>
            </p:spPr>
          </p:cxnSp>
          <p:sp>
            <p:nvSpPr>
              <p:cNvPr id="129" name="Google Shape;129;p12"/>
              <p:cNvSpPr/>
              <p:nvPr/>
            </p:nvSpPr>
            <p:spPr>
              <a:xfrm flipH="1">
                <a:off x="796138" y="2306625"/>
                <a:ext cx="1605900" cy="143400"/>
              </a:xfrm>
              <a:prstGeom prst="parallelogram">
                <a:avLst>
                  <a:gd name="adj" fmla="val 96952"/>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lang="en-IN"/>
              </a:p>
            </p:txBody>
          </p:sp>
          <p:sp>
            <p:nvSpPr>
              <p:cNvPr id="130" name="Google Shape;130;p12"/>
              <p:cNvSpPr/>
              <p:nvPr/>
            </p:nvSpPr>
            <p:spPr>
              <a:xfrm>
                <a:off x="796311" y="2460450"/>
                <a:ext cx="1605900" cy="143400"/>
              </a:xfrm>
              <a:prstGeom prst="parallelogram">
                <a:avLst>
                  <a:gd name="adj" fmla="val 96952"/>
                </a:avLst>
              </a:prstGeom>
              <a:solidFill>
                <a:srgbClr val="0944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8" name="Google Shape;128;p12"/>
            <p:cNvSpPr txBox="1"/>
            <p:nvPr/>
          </p:nvSpPr>
          <p:spPr>
            <a:xfrm>
              <a:off x="931860" y="1574030"/>
              <a:ext cx="1283400" cy="24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IN" sz="1500">
                  <a:solidFill>
                    <a:srgbClr val="0C58D3"/>
                  </a:solidFill>
                  <a:latin typeface="Roboto" panose="02000000000000000000"/>
                  <a:ea typeface="Roboto" panose="02000000000000000000"/>
                  <a:cs typeface="Roboto" panose="02000000000000000000"/>
                  <a:sym typeface="Roboto" panose="02000000000000000000"/>
                </a:rPr>
                <a:t>Input of Dataset</a:t>
              </a:r>
              <a:endParaRPr sz="2200">
                <a:solidFill>
                  <a:srgbClr val="0C58D3"/>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IN" sz="3600">
                <a:latin typeface="Arial" panose="020B0604020202020204"/>
                <a:ea typeface="Arial" panose="020B0604020202020204"/>
                <a:cs typeface="Arial" panose="020B0604020202020204"/>
                <a:sym typeface="Arial" panose="020B0604020202020204"/>
              </a:rPr>
              <a:t>Methodology(cont..)</a:t>
            </a:r>
            <a:endParaRPr sz="3600">
              <a:latin typeface="Arial" panose="020B0604020202020204"/>
              <a:ea typeface="Arial" panose="020B0604020202020204"/>
              <a:cs typeface="Arial" panose="020B0604020202020204"/>
              <a:sym typeface="Arial" panose="020B0604020202020204"/>
            </a:endParaRPr>
          </a:p>
        </p:txBody>
      </p:sp>
      <p:sp>
        <p:nvSpPr>
          <p:cNvPr id="136" name="Google Shape;136;p13"/>
          <p:cNvSpPr txBox="1"/>
          <p:nvPr>
            <p:ph type="body" idx="1"/>
          </p:nvPr>
        </p:nvSpPr>
        <p:spPr>
          <a:xfrm>
            <a:off x="85550" y="642925"/>
            <a:ext cx="9058500" cy="6215100"/>
          </a:xfrm>
          <a:prstGeom prst="rect">
            <a:avLst/>
          </a:prstGeom>
          <a:noFill/>
          <a:ln>
            <a:noFill/>
          </a:ln>
        </p:spPr>
        <p:txBody>
          <a:bodyPr spcFirstLastPara="1" wrap="square" lIns="91425" tIns="45700" rIns="91425" bIns="45700" anchor="t" anchorCtr="0">
            <a:normAutofit/>
          </a:bodyPr>
          <a:lstStyle/>
          <a:p>
            <a:pPr marL="457200" lvl="0" indent="-368300" algn="l" rtl="0">
              <a:lnSpc>
                <a:spcPct val="100000"/>
              </a:lnSpc>
              <a:spcBef>
                <a:spcPts val="575"/>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An Open Source dataset </a:t>
            </a:r>
            <a:r>
              <a:rPr lang="en-IN" sz="2200">
                <a:latin typeface="Arial" panose="020B0604020202020204"/>
                <a:ea typeface="Arial" panose="020B0604020202020204"/>
                <a:cs typeface="Arial" panose="020B0604020202020204"/>
                <a:sym typeface="Arial" panose="020B0604020202020204"/>
              </a:rPr>
              <a:t>containing</a:t>
            </a:r>
            <a:r>
              <a:rPr lang="en-IN" sz="2200">
                <a:latin typeface="Arial" panose="020B0604020202020204"/>
                <a:ea typeface="Arial" panose="020B0604020202020204"/>
                <a:cs typeface="Arial" panose="020B0604020202020204"/>
                <a:sym typeface="Arial" panose="020B0604020202020204"/>
              </a:rPr>
              <a:t> 100’s of masked and unmasked images are </a:t>
            </a:r>
            <a:r>
              <a:rPr lang="en-IN" sz="2200">
                <a:latin typeface="Arial" panose="020B0604020202020204"/>
                <a:ea typeface="Arial" panose="020B0604020202020204"/>
                <a:cs typeface="Arial" panose="020B0604020202020204"/>
                <a:sym typeface="Arial" panose="020B0604020202020204"/>
              </a:rPr>
              <a:t>acquired</a:t>
            </a:r>
            <a:r>
              <a:rPr lang="en-IN" sz="2200">
                <a:latin typeface="Arial" panose="020B0604020202020204"/>
                <a:ea typeface="Arial" panose="020B0604020202020204"/>
                <a:cs typeface="Arial" panose="020B0604020202020204"/>
                <a:sym typeface="Arial" panose="020B0604020202020204"/>
              </a:rPr>
              <a:t>.</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This dataset is entered in the model through input layer of the proposed model.</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This dataset is further processed and analysed for model compatibility.</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The dataset undergoes multiple stages inorder to make the dataset usable.</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Dataset is divided into train and test group. The training dataset is used to test the model while the test group is used to test the performance of the model.</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This images is the further used to train the proposed model.</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The accuracy and other </a:t>
            </a:r>
            <a:r>
              <a:rPr lang="en-IN" sz="2200">
                <a:latin typeface="Arial" panose="020B0604020202020204"/>
                <a:ea typeface="Arial" panose="020B0604020202020204"/>
                <a:cs typeface="Arial" panose="020B0604020202020204"/>
                <a:sym typeface="Arial" panose="020B0604020202020204"/>
              </a:rPr>
              <a:t>performance matrix is used to analysis the performance of the proposed model.</a:t>
            </a:r>
            <a:endParaRPr sz="2200">
              <a:latin typeface="Arial" panose="020B0604020202020204"/>
              <a:ea typeface="Arial" panose="020B0604020202020204"/>
              <a:cs typeface="Arial" panose="020B0604020202020204"/>
              <a:sym typeface="Arial" panose="020B0604020202020204"/>
            </a:endParaRPr>
          </a:p>
          <a:p>
            <a:pPr marL="457200" lvl="0" indent="-368300" algn="l" rtl="0">
              <a:lnSpc>
                <a:spcPct val="100000"/>
              </a:lnSpc>
              <a:spcBef>
                <a:spcPts val="0"/>
              </a:spcBef>
              <a:spcAft>
                <a:spcPts val="0"/>
              </a:spcAft>
              <a:buSzPts val="2200"/>
              <a:buFont typeface="Arial" panose="020B0604020202020204"/>
              <a:buChar char="⚫"/>
            </a:pPr>
            <a:r>
              <a:rPr lang="en-IN" sz="2200">
                <a:latin typeface="Arial" panose="020B0604020202020204"/>
                <a:ea typeface="Arial" panose="020B0604020202020204"/>
                <a:cs typeface="Arial" panose="020B0604020202020204"/>
                <a:sym typeface="Arial" panose="020B0604020202020204"/>
              </a:rPr>
              <a:t>After the model is trained, it used to classify the the images to classify into masked and unmasked images.</a:t>
            </a:r>
            <a:endParaRPr sz="2200">
              <a:latin typeface="Arial" panose="020B0604020202020204"/>
              <a:ea typeface="Arial" panose="020B0604020202020204"/>
              <a:cs typeface="Arial" panose="020B0604020202020204"/>
              <a:sym typeface="Arial" panose="020B0604020202020204"/>
            </a:endParaRPr>
          </a:p>
          <a:p>
            <a:pPr marL="457200" lvl="0" indent="-228600" algn="l" rtl="0">
              <a:lnSpc>
                <a:spcPct val="100000"/>
              </a:lnSpc>
              <a:spcBef>
                <a:spcPts val="575"/>
              </a:spcBef>
              <a:spcAft>
                <a:spcPts val="0"/>
              </a:spcAft>
              <a:buSzPts val="1530"/>
              <a:buNone/>
            </a:pPr>
            <a:endParaRPr sz="18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US" sz="3600">
                <a:latin typeface="Arial" panose="020B0604020202020204"/>
                <a:ea typeface="Arial" panose="020B0604020202020204"/>
                <a:cs typeface="Arial" panose="020B0604020202020204"/>
                <a:sym typeface="Arial" panose="020B0604020202020204"/>
              </a:rPr>
              <a:t>Result</a:t>
            </a:r>
            <a:endParaRPr lang="en-US" sz="3600">
              <a:latin typeface="Arial" panose="020B0604020202020204"/>
              <a:ea typeface="Arial" panose="020B0604020202020204"/>
              <a:cs typeface="Arial" panose="020B0604020202020204"/>
              <a:sym typeface="Arial" panose="020B0604020202020204"/>
            </a:endParaRPr>
          </a:p>
        </p:txBody>
      </p:sp>
      <p:sp>
        <p:nvSpPr>
          <p:cNvPr id="136" name="Google Shape;136;p13"/>
          <p:cNvSpPr txBox="1"/>
          <p:nvPr>
            <p:ph type="body" idx="1"/>
          </p:nvPr>
        </p:nvSpPr>
        <p:spPr>
          <a:xfrm>
            <a:off x="85550" y="642925"/>
            <a:ext cx="9058500" cy="6215100"/>
          </a:xfrm>
          <a:prstGeom prst="rect">
            <a:avLst/>
          </a:prstGeom>
          <a:noFill/>
          <a:ln>
            <a:noFill/>
          </a:ln>
        </p:spPr>
        <p:txBody>
          <a:bodyPr spcFirstLastPara="1" wrap="square" lIns="91425" tIns="45700" rIns="91425" bIns="45700" anchor="t" anchorCtr="0">
            <a:normAutofit/>
          </a:bodyPr>
          <a:lstStyle/>
          <a:p>
            <a:pPr marL="88900" lvl="0" indent="0" algn="l" rtl="0">
              <a:lnSpc>
                <a:spcPct val="100000"/>
              </a:lnSpc>
              <a:spcBef>
                <a:spcPts val="575"/>
              </a:spcBef>
              <a:spcAft>
                <a:spcPts val="0"/>
              </a:spcAft>
              <a:buSzPts val="2200"/>
              <a:buFont typeface="Arial" panose="020B0604020202020204"/>
              <a:buNone/>
            </a:pPr>
            <a:r>
              <a:rPr lang="en-US" sz="2800">
                <a:latin typeface="Arial" panose="020B0604020202020204"/>
                <a:ea typeface="Arial" panose="020B0604020202020204"/>
                <a:cs typeface="Arial" panose="020B0604020202020204"/>
                <a:sym typeface="Arial" panose="020B0604020202020204"/>
              </a:rPr>
              <a:t>Training Loss and Accuracy:-</a:t>
            </a:r>
            <a:endParaRPr lang="en-US" sz="2800">
              <a:latin typeface="Arial" panose="020B0604020202020204"/>
              <a:ea typeface="Arial" panose="020B0604020202020204"/>
              <a:cs typeface="Arial" panose="020B0604020202020204"/>
              <a:sym typeface="Arial" panose="020B0604020202020204"/>
            </a:endParaRPr>
          </a:p>
          <a:p>
            <a:pPr marL="88900" lvl="0" indent="0" algn="l" rtl="0">
              <a:lnSpc>
                <a:spcPct val="100000"/>
              </a:lnSpc>
              <a:spcBef>
                <a:spcPts val="575"/>
              </a:spcBef>
              <a:spcAft>
                <a:spcPts val="0"/>
              </a:spcAft>
              <a:buSzPts val="2200"/>
              <a:buFont typeface="Arial" panose="020B0604020202020204"/>
              <a:buNone/>
            </a:pPr>
            <a:endParaRPr lang="en-US" sz="2800">
              <a:latin typeface="Arial" panose="020B0604020202020204"/>
              <a:ea typeface="Arial" panose="020B0604020202020204"/>
              <a:cs typeface="Arial" panose="020B0604020202020204"/>
              <a:sym typeface="Arial" panose="020B0604020202020204"/>
            </a:endParaRPr>
          </a:p>
        </p:txBody>
      </p:sp>
      <p:pic>
        <p:nvPicPr>
          <p:cNvPr id="2" name="Picture 1" descr="WhatsApp Image 2022-04-14 at 8.25.47 PM"/>
          <p:cNvPicPr>
            <a:picLocks noChangeAspect="1"/>
          </p:cNvPicPr>
          <p:nvPr/>
        </p:nvPicPr>
        <p:blipFill>
          <a:blip r:embed="rId1"/>
          <a:stretch>
            <a:fillRect/>
          </a:stretch>
        </p:blipFill>
        <p:spPr>
          <a:xfrm>
            <a:off x="1726565" y="1791970"/>
            <a:ext cx="5690870" cy="42684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US" sz="3600">
                <a:latin typeface="Arial" panose="020B0604020202020204"/>
                <a:ea typeface="Arial" panose="020B0604020202020204"/>
                <a:cs typeface="Arial" panose="020B0604020202020204"/>
                <a:sym typeface="Arial" panose="020B0604020202020204"/>
              </a:rPr>
              <a:t>Result</a:t>
            </a:r>
            <a:endParaRPr lang="en-US" sz="3600">
              <a:latin typeface="Arial" panose="020B0604020202020204"/>
              <a:ea typeface="Arial" panose="020B0604020202020204"/>
              <a:cs typeface="Arial" panose="020B0604020202020204"/>
              <a:sym typeface="Arial" panose="020B0604020202020204"/>
            </a:endParaRPr>
          </a:p>
        </p:txBody>
      </p:sp>
      <p:sp>
        <p:nvSpPr>
          <p:cNvPr id="136" name="Google Shape;136;p13"/>
          <p:cNvSpPr txBox="1"/>
          <p:nvPr>
            <p:ph type="body" idx="1"/>
          </p:nvPr>
        </p:nvSpPr>
        <p:spPr>
          <a:xfrm>
            <a:off x="85550" y="642925"/>
            <a:ext cx="9058500" cy="6215100"/>
          </a:xfrm>
          <a:prstGeom prst="rect">
            <a:avLst/>
          </a:prstGeom>
          <a:noFill/>
          <a:ln>
            <a:noFill/>
          </a:ln>
        </p:spPr>
        <p:txBody>
          <a:bodyPr spcFirstLastPara="1" wrap="square" lIns="91425" tIns="45700" rIns="91425" bIns="45700" anchor="t" anchorCtr="0">
            <a:normAutofit/>
          </a:bodyPr>
          <a:lstStyle/>
          <a:p>
            <a:pPr marL="88900" lvl="0" indent="0" algn="l" rtl="0">
              <a:lnSpc>
                <a:spcPct val="100000"/>
              </a:lnSpc>
              <a:spcBef>
                <a:spcPts val="575"/>
              </a:spcBef>
              <a:spcAft>
                <a:spcPts val="0"/>
              </a:spcAft>
              <a:buSzPts val="2200"/>
              <a:buFont typeface="Arial" panose="020B0604020202020204"/>
              <a:buNone/>
            </a:pPr>
            <a:r>
              <a:rPr lang="en-US" sz="2800">
                <a:latin typeface="Arial" panose="020B0604020202020204"/>
                <a:ea typeface="Arial" panose="020B0604020202020204"/>
                <a:cs typeface="Arial" panose="020B0604020202020204"/>
                <a:sym typeface="Arial" panose="020B0604020202020204"/>
              </a:rPr>
              <a:t>Without Mask:-</a:t>
            </a:r>
            <a:endParaRPr lang="en-US" sz="2800">
              <a:latin typeface="Arial" panose="020B0604020202020204"/>
              <a:ea typeface="Arial" panose="020B0604020202020204"/>
              <a:cs typeface="Arial" panose="020B0604020202020204"/>
              <a:sym typeface="Arial" panose="020B0604020202020204"/>
            </a:endParaRPr>
          </a:p>
          <a:p>
            <a:pPr marL="88900" lvl="0" indent="0" algn="l" rtl="0">
              <a:lnSpc>
                <a:spcPct val="100000"/>
              </a:lnSpc>
              <a:spcBef>
                <a:spcPts val="575"/>
              </a:spcBef>
              <a:spcAft>
                <a:spcPts val="0"/>
              </a:spcAft>
              <a:buSzPts val="2200"/>
              <a:buFont typeface="Arial" panose="020B0604020202020204"/>
              <a:buNone/>
            </a:pPr>
            <a:endParaRPr lang="en-US" sz="2800">
              <a:latin typeface="Arial" panose="020B0604020202020204"/>
              <a:ea typeface="Arial" panose="020B0604020202020204"/>
              <a:cs typeface="Arial" panose="020B0604020202020204"/>
              <a:sym typeface="Arial" panose="020B0604020202020204"/>
            </a:endParaRPr>
          </a:p>
        </p:txBody>
      </p:sp>
      <p:pic>
        <p:nvPicPr>
          <p:cNvPr id="2" name="Picture 1" descr="WhatsApp Image 2022-04-14 at 8.26.06 PM"/>
          <p:cNvPicPr>
            <a:picLocks noChangeAspect="1"/>
          </p:cNvPicPr>
          <p:nvPr/>
        </p:nvPicPr>
        <p:blipFill>
          <a:blip r:embed="rId1"/>
          <a:stretch>
            <a:fillRect/>
          </a:stretch>
        </p:blipFill>
        <p:spPr>
          <a:xfrm>
            <a:off x="1734820" y="1655445"/>
            <a:ext cx="5902325" cy="41897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0" y="0"/>
            <a:ext cx="9144000" cy="642918"/>
          </a:xfrm>
          <a:prstGeom prst="rect">
            <a:avLst/>
          </a:prstGeom>
          <a:noFill/>
          <a:ln>
            <a:noFill/>
          </a:ln>
        </p:spPr>
        <p:txBody>
          <a:bodyPr spcFirstLastPara="1" wrap="square" lIns="91425" tIns="45700" rIns="91425" bIns="91425" anchor="b" anchorCtr="0">
            <a:noAutofit/>
          </a:bodyPr>
          <a:lstStyle/>
          <a:p>
            <a:pPr marL="0" lvl="0" indent="0" algn="ctr" rtl="0">
              <a:lnSpc>
                <a:spcPct val="100000"/>
              </a:lnSpc>
              <a:spcBef>
                <a:spcPts val="0"/>
              </a:spcBef>
              <a:spcAft>
                <a:spcPts val="0"/>
              </a:spcAft>
              <a:buSzPts val="1400"/>
              <a:buNone/>
            </a:pPr>
            <a:r>
              <a:rPr lang="en-US" sz="3600">
                <a:latin typeface="Arial" panose="020B0604020202020204"/>
                <a:ea typeface="Arial" panose="020B0604020202020204"/>
                <a:cs typeface="Arial" panose="020B0604020202020204"/>
                <a:sym typeface="Arial" panose="020B0604020202020204"/>
              </a:rPr>
              <a:t>Result</a:t>
            </a:r>
            <a:endParaRPr lang="en-US" sz="3600">
              <a:latin typeface="Arial" panose="020B0604020202020204"/>
              <a:ea typeface="Arial" panose="020B0604020202020204"/>
              <a:cs typeface="Arial" panose="020B0604020202020204"/>
              <a:sym typeface="Arial" panose="020B0604020202020204"/>
            </a:endParaRPr>
          </a:p>
        </p:txBody>
      </p:sp>
      <p:sp>
        <p:nvSpPr>
          <p:cNvPr id="136" name="Google Shape;136;p13"/>
          <p:cNvSpPr txBox="1"/>
          <p:nvPr>
            <p:ph type="body" idx="1"/>
          </p:nvPr>
        </p:nvSpPr>
        <p:spPr>
          <a:xfrm>
            <a:off x="85550" y="642925"/>
            <a:ext cx="9058500" cy="6215100"/>
          </a:xfrm>
          <a:prstGeom prst="rect">
            <a:avLst/>
          </a:prstGeom>
          <a:noFill/>
          <a:ln>
            <a:noFill/>
          </a:ln>
        </p:spPr>
        <p:txBody>
          <a:bodyPr spcFirstLastPara="1" wrap="square" lIns="91425" tIns="45700" rIns="91425" bIns="45700" anchor="t" anchorCtr="0">
            <a:normAutofit/>
          </a:bodyPr>
          <a:lstStyle/>
          <a:p>
            <a:pPr marL="88900" lvl="0" indent="0" algn="l" rtl="0">
              <a:lnSpc>
                <a:spcPct val="100000"/>
              </a:lnSpc>
              <a:spcBef>
                <a:spcPts val="575"/>
              </a:spcBef>
              <a:spcAft>
                <a:spcPts val="0"/>
              </a:spcAft>
              <a:buSzPts val="2200"/>
              <a:buFont typeface="Arial" panose="020B0604020202020204"/>
              <a:buNone/>
            </a:pPr>
            <a:r>
              <a:rPr lang="en-US" sz="2800">
                <a:latin typeface="Arial" panose="020B0604020202020204"/>
                <a:ea typeface="Arial" panose="020B0604020202020204"/>
                <a:cs typeface="Arial" panose="020B0604020202020204"/>
                <a:sym typeface="Arial" panose="020B0604020202020204"/>
              </a:rPr>
              <a:t>With Mask:-</a:t>
            </a:r>
            <a:endParaRPr lang="en-US" sz="2800">
              <a:latin typeface="Arial" panose="020B0604020202020204"/>
              <a:ea typeface="Arial" panose="020B0604020202020204"/>
              <a:cs typeface="Arial" panose="020B0604020202020204"/>
              <a:sym typeface="Arial" panose="020B0604020202020204"/>
            </a:endParaRPr>
          </a:p>
          <a:p>
            <a:pPr marL="88900" lvl="0" indent="0" algn="l" rtl="0">
              <a:lnSpc>
                <a:spcPct val="100000"/>
              </a:lnSpc>
              <a:spcBef>
                <a:spcPts val="575"/>
              </a:spcBef>
              <a:spcAft>
                <a:spcPts val="0"/>
              </a:spcAft>
              <a:buSzPts val="2200"/>
              <a:buFont typeface="Arial" panose="020B0604020202020204"/>
              <a:buNone/>
            </a:pPr>
            <a:endParaRPr lang="en-US" sz="2800">
              <a:latin typeface="Arial" panose="020B0604020202020204"/>
              <a:ea typeface="Arial" panose="020B0604020202020204"/>
              <a:cs typeface="Arial" panose="020B0604020202020204"/>
              <a:sym typeface="Arial" panose="020B0604020202020204"/>
            </a:endParaRPr>
          </a:p>
        </p:txBody>
      </p:sp>
      <p:pic>
        <p:nvPicPr>
          <p:cNvPr id="2" name="Picture 1" descr="WhatsApp Image 2022-04-14 at 8.26.24 PM"/>
          <p:cNvPicPr>
            <a:picLocks noChangeAspect="1"/>
          </p:cNvPicPr>
          <p:nvPr/>
        </p:nvPicPr>
        <p:blipFill>
          <a:blip r:embed="rId1"/>
          <a:stretch>
            <a:fillRect/>
          </a:stretch>
        </p:blipFill>
        <p:spPr>
          <a:xfrm>
            <a:off x="1945640" y="1389380"/>
            <a:ext cx="5683250" cy="44761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0" y="0"/>
            <a:ext cx="9144000" cy="642918"/>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SzPct val="39000"/>
              <a:buNone/>
            </a:pPr>
            <a:r>
              <a:rPr lang="en-IN"/>
              <a:t>References</a:t>
            </a:r>
            <a:endParaRPr lang="en-IN"/>
          </a:p>
        </p:txBody>
      </p:sp>
      <p:sp>
        <p:nvSpPr>
          <p:cNvPr id="142" name="Google Shape;142;p20"/>
          <p:cNvSpPr txBox="1"/>
          <p:nvPr>
            <p:ph type="body" idx="1"/>
          </p:nvPr>
        </p:nvSpPr>
        <p:spPr>
          <a:xfrm>
            <a:off x="0" y="642918"/>
            <a:ext cx="9144000" cy="6215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75"/>
              </a:spcBef>
              <a:spcAft>
                <a:spcPts val="0"/>
              </a:spcAft>
              <a:buSzPts val="1530"/>
              <a:buNone/>
            </a:pPr>
            <a:r>
              <a:rPr lang="en-IN" sz="2200">
                <a:latin typeface="Arial" panose="020B0604020202020204"/>
                <a:ea typeface="Arial" panose="020B0604020202020204"/>
                <a:cs typeface="Arial" panose="020B0604020202020204"/>
                <a:sym typeface="Arial" panose="020B0604020202020204"/>
              </a:rPr>
              <a:t>[1] </a:t>
            </a:r>
            <a:r>
              <a:rPr lang="en-IN" sz="1600">
                <a:latin typeface="Arial" panose="020B0604020202020204"/>
                <a:ea typeface="Arial" panose="020B0604020202020204"/>
                <a:cs typeface="Arial" panose="020B0604020202020204"/>
                <a:sym typeface="Arial" panose="020B0604020202020204"/>
              </a:rPr>
              <a:t> </a:t>
            </a:r>
            <a:r>
              <a:rPr lang="en-IN" sz="2200">
                <a:latin typeface="Arial" panose="020B0604020202020204"/>
                <a:ea typeface="Arial" panose="020B0604020202020204"/>
                <a:cs typeface="Arial" panose="020B0604020202020204"/>
                <a:sym typeface="Arial" panose="020B0604020202020204"/>
              </a:rPr>
              <a:t>Covid-19 Face Mask Detection Using TensorFlow, Keras and   OpenCv, Arjya Das,Mohammad Wasif Ansari,Rohini Basak, 2020</a:t>
            </a:r>
            <a:endParaRPr sz="2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575"/>
              </a:spcBef>
              <a:spcAft>
                <a:spcPts val="0"/>
              </a:spcAft>
              <a:buSzPts val="1530"/>
              <a:buNone/>
            </a:pPr>
            <a:r>
              <a:rPr lang="en-IN" sz="2200">
                <a:latin typeface="Arial" panose="020B0604020202020204"/>
                <a:ea typeface="Arial" panose="020B0604020202020204"/>
                <a:cs typeface="Arial" panose="020B0604020202020204"/>
                <a:sym typeface="Arial" panose="020B0604020202020204"/>
              </a:rPr>
              <a:t>[2]  An Approach to Face Detection and Recognition, Divya Meena,Ravi Sharan,2016</a:t>
            </a:r>
            <a:endParaRPr sz="2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575"/>
              </a:spcBef>
              <a:spcAft>
                <a:spcPts val="0"/>
              </a:spcAft>
              <a:buSzPts val="1530"/>
              <a:buNone/>
            </a:pPr>
            <a:r>
              <a:rPr lang="en-IN" sz="2200">
                <a:latin typeface="Arial" panose="020B0604020202020204"/>
                <a:ea typeface="Arial" panose="020B0604020202020204"/>
                <a:cs typeface="Arial" panose="020B0604020202020204"/>
                <a:sym typeface="Arial" panose="020B0604020202020204"/>
              </a:rPr>
              <a:t>[3]  Face Mask Detection Using OpenCV, Harish Adusumalli ,D Kalyani, 2021</a:t>
            </a:r>
            <a:endParaRPr sz="2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575"/>
              </a:spcBef>
              <a:spcAft>
                <a:spcPts val="0"/>
              </a:spcAft>
              <a:buSzPts val="1530"/>
              <a:buNone/>
            </a:pPr>
            <a:r>
              <a:rPr lang="en-IN" sz="2200">
                <a:latin typeface="Arial" panose="020B0604020202020204"/>
                <a:ea typeface="Arial" panose="020B0604020202020204"/>
                <a:cs typeface="Arial" panose="020B0604020202020204"/>
                <a:sym typeface="Arial" panose="020B0604020202020204"/>
              </a:rPr>
              <a:t>[4]  Advice on the use of masks in the context of COVID-19, WHO, 2020</a:t>
            </a:r>
            <a:endParaRPr sz="3000">
              <a:latin typeface="Arial" panose="020B0604020202020204"/>
              <a:ea typeface="Arial" panose="020B0604020202020204"/>
              <a:cs typeface="Arial" panose="020B0604020202020204"/>
              <a:sym typeface="Arial" panose="020B0604020202020204"/>
            </a:endParaRPr>
          </a:p>
          <a:p>
            <a:pPr marL="457200" lvl="0" indent="-228600" algn="l" rtl="0">
              <a:lnSpc>
                <a:spcPct val="100000"/>
              </a:lnSpc>
              <a:spcBef>
                <a:spcPts val="575"/>
              </a:spcBef>
              <a:spcAft>
                <a:spcPts val="0"/>
              </a:spcAft>
              <a:buSzPts val="1530"/>
              <a:buNone/>
            </a:pPr>
            <a:endParaRPr sz="1600">
              <a:latin typeface="Arial" panose="020B0604020202020204"/>
              <a:ea typeface="Arial" panose="020B0604020202020204"/>
              <a:cs typeface="Arial" panose="020B0604020202020204"/>
              <a:sym typeface="Arial" panose="020B0604020202020204"/>
            </a:endParaRPr>
          </a:p>
          <a:p>
            <a:pPr marL="457200" lvl="0" indent="-228600" algn="l" rtl="0">
              <a:lnSpc>
                <a:spcPct val="100000"/>
              </a:lnSpc>
              <a:spcBef>
                <a:spcPts val="575"/>
              </a:spcBef>
              <a:spcAft>
                <a:spcPts val="0"/>
              </a:spcAft>
              <a:buSzPts val="1530"/>
              <a:buNone/>
            </a:pPr>
            <a:endParaRPr sz="1600">
              <a:latin typeface="Arial" panose="020B0604020202020204"/>
              <a:ea typeface="Arial" panose="020B0604020202020204"/>
              <a:cs typeface="Arial" panose="020B0604020202020204"/>
              <a:sym typeface="Arial" panose="020B0604020202020204"/>
            </a:endParaRPr>
          </a:p>
          <a:p>
            <a:pPr marL="457200" lvl="0" indent="-325755" algn="l" rtl="0">
              <a:lnSpc>
                <a:spcPct val="100000"/>
              </a:lnSpc>
              <a:spcBef>
                <a:spcPts val="575"/>
              </a:spcBef>
              <a:spcAft>
                <a:spcPts val="0"/>
              </a:spcAft>
              <a:buSzPts val="1530"/>
              <a:buNone/>
            </a:pPr>
            <a:endParaRPr sz="1600">
              <a:latin typeface="Arial" panose="020B0604020202020204"/>
              <a:ea typeface="Arial" panose="020B0604020202020204"/>
              <a:cs typeface="Arial" panose="020B0604020202020204"/>
              <a:sym typeface="Arial" panose="020B0604020202020204"/>
            </a:endParaRPr>
          </a:p>
          <a:p>
            <a:pPr marL="457200" lvl="0" indent="-228600" algn="l" rtl="0">
              <a:lnSpc>
                <a:spcPct val="100000"/>
              </a:lnSpc>
              <a:spcBef>
                <a:spcPts val="575"/>
              </a:spcBef>
              <a:spcAft>
                <a:spcPts val="0"/>
              </a:spcAft>
              <a:buSzPts val="1530"/>
              <a:buNone/>
            </a:pPr>
            <a:r>
              <a:rPr lang="en-IN" sz="1800"/>
              <a:t> </a:t>
            </a:r>
            <a:endParaRPr sz="1800"/>
          </a:p>
        </p:txBody>
      </p:sp>
    </p:spTree>
  </p:cSld>
  <p:clrMapOvr>
    <a:masterClrMapping/>
  </p:clrMapOvr>
</p:sld>
</file>

<file path=ppt/theme/theme1.xml><?xml version="1.0" encoding="utf-8"?>
<a:theme xmlns:a="http://schemas.openxmlformats.org/drawingml/2006/main" name="11_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7201</Words>
  <Application>WPS Presentation</Application>
  <PresentationFormat/>
  <Paragraphs>237</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16</vt:i4>
      </vt:variant>
    </vt:vector>
  </HeadingPairs>
  <TitlesOfParts>
    <vt:vector size="31" baseType="lpstr">
      <vt:lpstr>Arial</vt:lpstr>
      <vt:lpstr>SimSun</vt:lpstr>
      <vt:lpstr>Wingdings</vt:lpstr>
      <vt:lpstr>Arial</vt:lpstr>
      <vt:lpstr>Times New Roman</vt:lpstr>
      <vt:lpstr>Libre Baskerville</vt:lpstr>
      <vt:lpstr>Libre Franklin</vt:lpstr>
      <vt:lpstr>Noto Sans Symbols</vt:lpstr>
      <vt:lpstr>Segoe Print</vt:lpstr>
      <vt:lpstr>Calibri</vt:lpstr>
      <vt:lpstr>Roboto</vt:lpstr>
      <vt:lpstr>Microsoft YaHei</vt:lpstr>
      <vt:lpstr>Arial Unicode MS</vt:lpstr>
      <vt:lpstr>11_Equity</vt:lpstr>
      <vt:lpstr>Equity</vt:lpstr>
      <vt:lpstr>PowerPoint 演示文稿</vt:lpstr>
      <vt:lpstr>Content</vt:lpstr>
      <vt:lpstr>Introduction</vt:lpstr>
      <vt:lpstr>Problem Definition</vt:lpstr>
      <vt:lpstr>Literature Review</vt:lpstr>
      <vt:lpstr>PowerPoint 演示文稿</vt:lpstr>
      <vt:lpstr>PowerPoint 演示文稿</vt:lpstr>
      <vt:lpstr>PowerPoint 演示文稿</vt:lpstr>
      <vt:lpstr> Tools Used</vt:lpstr>
      <vt:lpstr>PowerPoint 演示文稿</vt:lpstr>
      <vt:lpstr>Methodology</vt:lpstr>
      <vt:lpstr>Methodology(cont..)</vt:lpstr>
      <vt:lpstr>Result</vt:lpstr>
      <vt:lpstr>Result</vt:lpstr>
      <vt:lpstr>Result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google1595089105</cp:lastModifiedBy>
  <cp:revision>3</cp:revision>
  <dcterms:created xsi:type="dcterms:W3CDTF">2022-04-14T15:03:00Z</dcterms:created>
  <dcterms:modified xsi:type="dcterms:W3CDTF">2022-04-15T04:01:27Z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849C949E8E2B48F2B86340007B84748B</vt:lpwstr>
  </property>
  <property fmtid="{D5CDD505-2E9C-101B-9397-08002B2CF9AE}" pid="3" name="KSOProductBuildVer">
    <vt:lpwstr>1033-11.2.0.11074</vt:lpwstr>
  </property>
</Properties>
</file>